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4" y="1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0" y="584199"/>
            <a:ext cx="5714999" cy="56896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71524" y="771524"/>
            <a:ext cx="1123950" cy="1123950"/>
          </a:xfrm>
          <a:custGeom>
            <a:avLst/>
            <a:gdLst/>
            <a:ahLst/>
            <a:cxnLst/>
            <a:rect l="l" t="t" r="r" b="b"/>
            <a:pathLst>
              <a:path w="1123950" h="1123950">
                <a:moveTo>
                  <a:pt x="1123949" y="561974"/>
                </a:moveTo>
                <a:lnTo>
                  <a:pt x="1122427" y="603312"/>
                </a:lnTo>
                <a:lnTo>
                  <a:pt x="1117867" y="644433"/>
                </a:lnTo>
                <a:lnTo>
                  <a:pt x="1110294" y="685108"/>
                </a:lnTo>
                <a:lnTo>
                  <a:pt x="1099751" y="725107"/>
                </a:lnTo>
                <a:lnTo>
                  <a:pt x="1086295" y="764223"/>
                </a:lnTo>
                <a:lnTo>
                  <a:pt x="1069994" y="802250"/>
                </a:lnTo>
                <a:lnTo>
                  <a:pt x="1050940" y="838975"/>
                </a:lnTo>
                <a:lnTo>
                  <a:pt x="1029239" y="874191"/>
                </a:lnTo>
                <a:lnTo>
                  <a:pt x="1005008" y="907716"/>
                </a:lnTo>
                <a:lnTo>
                  <a:pt x="978371" y="939374"/>
                </a:lnTo>
                <a:lnTo>
                  <a:pt x="949476" y="968986"/>
                </a:lnTo>
                <a:lnTo>
                  <a:pt x="918487" y="996387"/>
                </a:lnTo>
                <a:lnTo>
                  <a:pt x="885568" y="1021434"/>
                </a:lnTo>
                <a:lnTo>
                  <a:pt x="850887" y="1043997"/>
                </a:lnTo>
                <a:lnTo>
                  <a:pt x="814641" y="1063946"/>
                </a:lnTo>
                <a:lnTo>
                  <a:pt x="777033" y="1081171"/>
                </a:lnTo>
                <a:lnTo>
                  <a:pt x="738260" y="1095584"/>
                </a:lnTo>
                <a:lnTo>
                  <a:pt x="698523" y="1107108"/>
                </a:lnTo>
                <a:lnTo>
                  <a:pt x="658047" y="1115677"/>
                </a:lnTo>
                <a:lnTo>
                  <a:pt x="617058" y="1121243"/>
                </a:lnTo>
                <a:lnTo>
                  <a:pt x="575770" y="1123780"/>
                </a:lnTo>
                <a:lnTo>
                  <a:pt x="561974" y="1123949"/>
                </a:lnTo>
                <a:lnTo>
                  <a:pt x="548179" y="1123780"/>
                </a:lnTo>
                <a:lnTo>
                  <a:pt x="506891" y="1121243"/>
                </a:lnTo>
                <a:lnTo>
                  <a:pt x="465902" y="1115677"/>
                </a:lnTo>
                <a:lnTo>
                  <a:pt x="425426" y="1107108"/>
                </a:lnTo>
                <a:lnTo>
                  <a:pt x="385689" y="1095584"/>
                </a:lnTo>
                <a:lnTo>
                  <a:pt x="346916" y="1081171"/>
                </a:lnTo>
                <a:lnTo>
                  <a:pt x="309308" y="1063946"/>
                </a:lnTo>
                <a:lnTo>
                  <a:pt x="273061" y="1043997"/>
                </a:lnTo>
                <a:lnTo>
                  <a:pt x="238381" y="1021434"/>
                </a:lnTo>
                <a:lnTo>
                  <a:pt x="205461" y="996387"/>
                </a:lnTo>
                <a:lnTo>
                  <a:pt x="174473" y="968986"/>
                </a:lnTo>
                <a:lnTo>
                  <a:pt x="145578" y="939374"/>
                </a:lnTo>
                <a:lnTo>
                  <a:pt x="118941" y="907716"/>
                </a:lnTo>
                <a:lnTo>
                  <a:pt x="94709" y="874191"/>
                </a:lnTo>
                <a:lnTo>
                  <a:pt x="73009" y="838975"/>
                </a:lnTo>
                <a:lnTo>
                  <a:pt x="53955" y="802250"/>
                </a:lnTo>
                <a:lnTo>
                  <a:pt x="37654" y="764223"/>
                </a:lnTo>
                <a:lnTo>
                  <a:pt x="24198" y="725107"/>
                </a:lnTo>
                <a:lnTo>
                  <a:pt x="13655" y="685108"/>
                </a:lnTo>
                <a:lnTo>
                  <a:pt x="6082" y="644433"/>
                </a:lnTo>
                <a:lnTo>
                  <a:pt x="1522" y="603312"/>
                </a:lnTo>
                <a:lnTo>
                  <a:pt x="0" y="561974"/>
                </a:lnTo>
                <a:lnTo>
                  <a:pt x="169" y="548179"/>
                </a:lnTo>
                <a:lnTo>
                  <a:pt x="2706" y="506891"/>
                </a:lnTo>
                <a:lnTo>
                  <a:pt x="8272" y="465902"/>
                </a:lnTo>
                <a:lnTo>
                  <a:pt x="16841" y="425426"/>
                </a:lnTo>
                <a:lnTo>
                  <a:pt x="28364" y="385689"/>
                </a:lnTo>
                <a:lnTo>
                  <a:pt x="42777" y="346916"/>
                </a:lnTo>
                <a:lnTo>
                  <a:pt x="60003" y="309308"/>
                </a:lnTo>
                <a:lnTo>
                  <a:pt x="79952" y="273061"/>
                </a:lnTo>
                <a:lnTo>
                  <a:pt x="102514" y="238381"/>
                </a:lnTo>
                <a:lnTo>
                  <a:pt x="127562" y="205461"/>
                </a:lnTo>
                <a:lnTo>
                  <a:pt x="154963" y="174473"/>
                </a:lnTo>
                <a:lnTo>
                  <a:pt x="184575" y="145578"/>
                </a:lnTo>
                <a:lnTo>
                  <a:pt x="216233" y="118941"/>
                </a:lnTo>
                <a:lnTo>
                  <a:pt x="249758" y="94709"/>
                </a:lnTo>
                <a:lnTo>
                  <a:pt x="284974" y="73009"/>
                </a:lnTo>
                <a:lnTo>
                  <a:pt x="321699" y="53955"/>
                </a:lnTo>
                <a:lnTo>
                  <a:pt x="359726" y="37654"/>
                </a:lnTo>
                <a:lnTo>
                  <a:pt x="398842" y="24198"/>
                </a:lnTo>
                <a:lnTo>
                  <a:pt x="438841" y="13655"/>
                </a:lnTo>
                <a:lnTo>
                  <a:pt x="479516" y="6082"/>
                </a:lnTo>
                <a:lnTo>
                  <a:pt x="520637" y="1522"/>
                </a:lnTo>
                <a:lnTo>
                  <a:pt x="561974" y="0"/>
                </a:lnTo>
                <a:lnTo>
                  <a:pt x="575770" y="169"/>
                </a:lnTo>
                <a:lnTo>
                  <a:pt x="617058" y="2706"/>
                </a:lnTo>
                <a:lnTo>
                  <a:pt x="658047" y="8272"/>
                </a:lnTo>
                <a:lnTo>
                  <a:pt x="698523" y="16841"/>
                </a:lnTo>
                <a:lnTo>
                  <a:pt x="738260" y="28364"/>
                </a:lnTo>
                <a:lnTo>
                  <a:pt x="777033" y="42777"/>
                </a:lnTo>
                <a:lnTo>
                  <a:pt x="814641" y="60003"/>
                </a:lnTo>
                <a:lnTo>
                  <a:pt x="850887" y="79952"/>
                </a:lnTo>
                <a:lnTo>
                  <a:pt x="885568" y="102514"/>
                </a:lnTo>
                <a:lnTo>
                  <a:pt x="918488" y="127562"/>
                </a:lnTo>
                <a:lnTo>
                  <a:pt x="949476" y="154963"/>
                </a:lnTo>
                <a:lnTo>
                  <a:pt x="978371" y="184575"/>
                </a:lnTo>
                <a:lnTo>
                  <a:pt x="1005008" y="216233"/>
                </a:lnTo>
                <a:lnTo>
                  <a:pt x="1029239" y="249758"/>
                </a:lnTo>
                <a:lnTo>
                  <a:pt x="1050940" y="284974"/>
                </a:lnTo>
                <a:lnTo>
                  <a:pt x="1069994" y="321699"/>
                </a:lnTo>
                <a:lnTo>
                  <a:pt x="1086295" y="359726"/>
                </a:lnTo>
                <a:lnTo>
                  <a:pt x="1099751" y="398842"/>
                </a:lnTo>
                <a:lnTo>
                  <a:pt x="1110294" y="438841"/>
                </a:lnTo>
                <a:lnTo>
                  <a:pt x="1117867" y="479516"/>
                </a:lnTo>
                <a:lnTo>
                  <a:pt x="1122427" y="520637"/>
                </a:lnTo>
                <a:lnTo>
                  <a:pt x="1123949" y="561974"/>
                </a:lnTo>
                <a:close/>
              </a:path>
            </a:pathLst>
          </a:custGeom>
          <a:ln w="19049">
            <a:solidFill>
              <a:srgbClr val="00D4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487024" y="5153024"/>
            <a:ext cx="742950" cy="742950"/>
          </a:xfrm>
          <a:custGeom>
            <a:avLst/>
            <a:gdLst/>
            <a:ahLst/>
            <a:cxnLst/>
            <a:rect l="l" t="t" r="r" b="b"/>
            <a:pathLst>
              <a:path w="742950" h="742950">
                <a:moveTo>
                  <a:pt x="742949" y="371474"/>
                </a:moveTo>
                <a:lnTo>
                  <a:pt x="740156" y="416950"/>
                </a:lnTo>
                <a:lnTo>
                  <a:pt x="731817" y="461736"/>
                </a:lnTo>
                <a:lnTo>
                  <a:pt x="718059" y="505164"/>
                </a:lnTo>
                <a:lnTo>
                  <a:pt x="699086" y="546587"/>
                </a:lnTo>
                <a:lnTo>
                  <a:pt x="675185" y="585375"/>
                </a:lnTo>
                <a:lnTo>
                  <a:pt x="646719" y="620942"/>
                </a:lnTo>
                <a:lnTo>
                  <a:pt x="614114" y="652757"/>
                </a:lnTo>
                <a:lnTo>
                  <a:pt x="577855" y="680345"/>
                </a:lnTo>
                <a:lnTo>
                  <a:pt x="538491" y="703286"/>
                </a:lnTo>
                <a:lnTo>
                  <a:pt x="496621" y="721235"/>
                </a:lnTo>
                <a:lnTo>
                  <a:pt x="452868" y="733923"/>
                </a:lnTo>
                <a:lnTo>
                  <a:pt x="407885" y="741161"/>
                </a:lnTo>
                <a:lnTo>
                  <a:pt x="371474" y="742949"/>
                </a:lnTo>
                <a:lnTo>
                  <a:pt x="362355" y="742838"/>
                </a:lnTo>
                <a:lnTo>
                  <a:pt x="316968" y="738929"/>
                </a:lnTo>
                <a:lnTo>
                  <a:pt x="272400" y="729494"/>
                </a:lnTo>
                <a:lnTo>
                  <a:pt x="229317" y="714672"/>
                </a:lnTo>
                <a:lnTo>
                  <a:pt x="188373" y="694689"/>
                </a:lnTo>
                <a:lnTo>
                  <a:pt x="150187" y="669846"/>
                </a:lnTo>
                <a:lnTo>
                  <a:pt x="115329" y="640516"/>
                </a:lnTo>
                <a:lnTo>
                  <a:pt x="84320" y="607136"/>
                </a:lnTo>
                <a:lnTo>
                  <a:pt x="57631" y="570210"/>
                </a:lnTo>
                <a:lnTo>
                  <a:pt x="35665" y="530301"/>
                </a:lnTo>
                <a:lnTo>
                  <a:pt x="18749" y="488002"/>
                </a:lnTo>
                <a:lnTo>
                  <a:pt x="7137" y="443946"/>
                </a:lnTo>
                <a:lnTo>
                  <a:pt x="1006" y="398799"/>
                </a:lnTo>
                <a:lnTo>
                  <a:pt x="0" y="371474"/>
                </a:lnTo>
                <a:lnTo>
                  <a:pt x="111" y="362355"/>
                </a:lnTo>
                <a:lnTo>
                  <a:pt x="4020" y="316968"/>
                </a:lnTo>
                <a:lnTo>
                  <a:pt x="13455" y="272400"/>
                </a:lnTo>
                <a:lnTo>
                  <a:pt x="28276" y="229317"/>
                </a:lnTo>
                <a:lnTo>
                  <a:pt x="48260" y="188373"/>
                </a:lnTo>
                <a:lnTo>
                  <a:pt x="73103" y="150187"/>
                </a:lnTo>
                <a:lnTo>
                  <a:pt x="102433" y="115329"/>
                </a:lnTo>
                <a:lnTo>
                  <a:pt x="135813" y="84320"/>
                </a:lnTo>
                <a:lnTo>
                  <a:pt x="172738" y="57631"/>
                </a:lnTo>
                <a:lnTo>
                  <a:pt x="212648" y="35665"/>
                </a:lnTo>
                <a:lnTo>
                  <a:pt x="254947" y="18749"/>
                </a:lnTo>
                <a:lnTo>
                  <a:pt x="299003" y="7137"/>
                </a:lnTo>
                <a:lnTo>
                  <a:pt x="344150" y="1006"/>
                </a:lnTo>
                <a:lnTo>
                  <a:pt x="371474" y="0"/>
                </a:lnTo>
                <a:lnTo>
                  <a:pt x="380594" y="111"/>
                </a:lnTo>
                <a:lnTo>
                  <a:pt x="425981" y="4020"/>
                </a:lnTo>
                <a:lnTo>
                  <a:pt x="470549" y="13455"/>
                </a:lnTo>
                <a:lnTo>
                  <a:pt x="513632" y="28276"/>
                </a:lnTo>
                <a:lnTo>
                  <a:pt x="554576" y="48260"/>
                </a:lnTo>
                <a:lnTo>
                  <a:pt x="592762" y="73103"/>
                </a:lnTo>
                <a:lnTo>
                  <a:pt x="627620" y="102433"/>
                </a:lnTo>
                <a:lnTo>
                  <a:pt x="658629" y="135813"/>
                </a:lnTo>
                <a:lnTo>
                  <a:pt x="685318" y="172738"/>
                </a:lnTo>
                <a:lnTo>
                  <a:pt x="707284" y="212648"/>
                </a:lnTo>
                <a:lnTo>
                  <a:pt x="724200" y="254947"/>
                </a:lnTo>
                <a:lnTo>
                  <a:pt x="735812" y="299003"/>
                </a:lnTo>
                <a:lnTo>
                  <a:pt x="741943" y="344150"/>
                </a:lnTo>
                <a:lnTo>
                  <a:pt x="742949" y="371474"/>
                </a:lnTo>
                <a:close/>
              </a:path>
            </a:pathLst>
          </a:custGeom>
          <a:ln w="19049">
            <a:solidFill>
              <a:srgbClr val="00D4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4999" y="1647824"/>
            <a:ext cx="762000" cy="762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87437" y="2803648"/>
            <a:ext cx="4617124" cy="1217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482600"/>
            <a:ext cx="9595623" cy="660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88591" y="0"/>
            <a:ext cx="8815070" cy="6858000"/>
            <a:chOff x="1688591" y="0"/>
            <a:chExt cx="8815070" cy="6858000"/>
          </a:xfrm>
        </p:grpSpPr>
        <p:sp>
          <p:nvSpPr>
            <p:cNvPr id="4" name="object 4"/>
            <p:cNvSpPr/>
            <p:nvPr/>
          </p:nvSpPr>
          <p:spPr>
            <a:xfrm>
              <a:off x="1688591" y="0"/>
              <a:ext cx="8815070" cy="6858000"/>
            </a:xfrm>
            <a:custGeom>
              <a:avLst/>
              <a:gdLst/>
              <a:ahLst/>
              <a:cxnLst/>
              <a:rect l="l" t="t" r="r" b="b"/>
              <a:pathLst>
                <a:path w="8815070" h="6858000">
                  <a:moveTo>
                    <a:pt x="8814815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8814815" y="0"/>
                  </a:lnTo>
                  <a:lnTo>
                    <a:pt x="8814815" y="1047749"/>
                  </a:lnTo>
                  <a:lnTo>
                    <a:pt x="1187957" y="1047749"/>
                  </a:lnTo>
                  <a:lnTo>
                    <a:pt x="1176698" y="1048293"/>
                  </a:lnTo>
                  <a:lnTo>
                    <a:pt x="1134022" y="1061261"/>
                  </a:lnTo>
                  <a:lnTo>
                    <a:pt x="1099558" y="1089573"/>
                  </a:lnTo>
                  <a:lnTo>
                    <a:pt x="1078551" y="1128919"/>
                  </a:lnTo>
                  <a:lnTo>
                    <a:pt x="1073657" y="1162049"/>
                  </a:lnTo>
                  <a:lnTo>
                    <a:pt x="1073657" y="5695949"/>
                  </a:lnTo>
                  <a:lnTo>
                    <a:pt x="1082358" y="5739690"/>
                  </a:lnTo>
                  <a:lnTo>
                    <a:pt x="1107135" y="5776772"/>
                  </a:lnTo>
                  <a:lnTo>
                    <a:pt x="1144216" y="5801548"/>
                  </a:lnTo>
                  <a:lnTo>
                    <a:pt x="1187957" y="5810249"/>
                  </a:lnTo>
                  <a:lnTo>
                    <a:pt x="8814815" y="5810249"/>
                  </a:lnTo>
                  <a:lnTo>
                    <a:pt x="8814815" y="6857999"/>
                  </a:lnTo>
                  <a:close/>
                </a:path>
                <a:path w="8815070" h="6858000">
                  <a:moveTo>
                    <a:pt x="8814815" y="5810249"/>
                  </a:moveTo>
                  <a:lnTo>
                    <a:pt x="7626857" y="5810249"/>
                  </a:lnTo>
                  <a:lnTo>
                    <a:pt x="7638116" y="5809705"/>
                  </a:lnTo>
                  <a:lnTo>
                    <a:pt x="7649159" y="5808074"/>
                  </a:lnTo>
                  <a:lnTo>
                    <a:pt x="7690369" y="5791004"/>
                  </a:lnTo>
                  <a:lnTo>
                    <a:pt x="7721911" y="5759462"/>
                  </a:lnTo>
                  <a:lnTo>
                    <a:pt x="7738981" y="5718252"/>
                  </a:lnTo>
                  <a:lnTo>
                    <a:pt x="7741157" y="5695949"/>
                  </a:lnTo>
                  <a:lnTo>
                    <a:pt x="7741157" y="1162049"/>
                  </a:lnTo>
                  <a:lnTo>
                    <a:pt x="7732455" y="1118309"/>
                  </a:lnTo>
                  <a:lnTo>
                    <a:pt x="7707678" y="1081227"/>
                  </a:lnTo>
                  <a:lnTo>
                    <a:pt x="7670596" y="1056450"/>
                  </a:lnTo>
                  <a:lnTo>
                    <a:pt x="7626857" y="1047749"/>
                  </a:lnTo>
                  <a:lnTo>
                    <a:pt x="8814815" y="1047749"/>
                  </a:lnTo>
                  <a:lnTo>
                    <a:pt x="8814815" y="5810249"/>
                  </a:lnTo>
                  <a:close/>
                </a:path>
              </a:pathLst>
            </a:custGeom>
            <a:solidFill>
              <a:srgbClr val="00D4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2249" y="1047749"/>
              <a:ext cx="6667499" cy="47624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09087" y="1533144"/>
              <a:ext cx="6979920" cy="1588135"/>
            </a:xfrm>
            <a:custGeom>
              <a:avLst/>
              <a:gdLst/>
              <a:ahLst/>
              <a:cxnLst/>
              <a:rect l="l" t="t" r="r" b="b"/>
              <a:pathLst>
                <a:path w="6979920" h="1588135">
                  <a:moveTo>
                    <a:pt x="6979919" y="1588007"/>
                  </a:moveTo>
                  <a:lnTo>
                    <a:pt x="0" y="1588007"/>
                  </a:lnTo>
                  <a:lnTo>
                    <a:pt x="0" y="0"/>
                  </a:lnTo>
                  <a:lnTo>
                    <a:pt x="6979919" y="0"/>
                  </a:lnTo>
                  <a:lnTo>
                    <a:pt x="6979919" y="1588007"/>
                  </a:lnTo>
                  <a:close/>
                </a:path>
              </a:pathLst>
            </a:custGeom>
            <a:solidFill>
              <a:srgbClr val="00D4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74263" y="1834896"/>
              <a:ext cx="6449695" cy="1057910"/>
            </a:xfrm>
            <a:custGeom>
              <a:avLst/>
              <a:gdLst/>
              <a:ahLst/>
              <a:cxnLst/>
              <a:rect l="l" t="t" r="r" b="b"/>
              <a:pathLst>
                <a:path w="6449695" h="1057910">
                  <a:moveTo>
                    <a:pt x="6449567" y="1057655"/>
                  </a:moveTo>
                  <a:lnTo>
                    <a:pt x="0" y="1057655"/>
                  </a:lnTo>
                  <a:lnTo>
                    <a:pt x="0" y="0"/>
                  </a:lnTo>
                  <a:lnTo>
                    <a:pt x="6449567" y="0"/>
                  </a:lnTo>
                  <a:lnTo>
                    <a:pt x="6449567" y="1057655"/>
                  </a:lnTo>
                  <a:close/>
                </a:path>
              </a:pathLst>
            </a:custGeom>
            <a:solidFill>
              <a:srgbClr val="000000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12888" y="2065248"/>
            <a:ext cx="597598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200"/>
              </a:lnSpc>
            </a:pPr>
            <a:r>
              <a:rPr sz="4800" spc="-345" dirty="0">
                <a:solidFill>
                  <a:srgbClr val="FFFFFF"/>
                </a:solidFill>
                <a:latin typeface="Arial Black"/>
                <a:cs typeface="Arial Black"/>
              </a:rPr>
              <a:t>Aerial</a:t>
            </a:r>
            <a:r>
              <a:rPr sz="4800" spc="-3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800" spc="-320" dirty="0">
                <a:solidFill>
                  <a:srgbClr val="FFFFFF"/>
                </a:solidFill>
                <a:latin typeface="Arial Black"/>
                <a:cs typeface="Arial Black"/>
              </a:rPr>
              <a:t>Multi-</a:t>
            </a:r>
            <a:r>
              <a:rPr sz="4800" spc="-509" dirty="0">
                <a:solidFill>
                  <a:srgbClr val="FFFFFF"/>
                </a:solidFill>
                <a:latin typeface="Arial Black"/>
                <a:cs typeface="Arial Black"/>
              </a:rPr>
              <a:t>Object</a:t>
            </a:r>
            <a:r>
              <a:rPr sz="4800" spc="-3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4800" spc="-395" dirty="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endParaRPr sz="48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88136" y="2179319"/>
            <a:ext cx="10010140" cy="1600200"/>
            <a:chOff x="1088136" y="2179319"/>
            <a:chExt cx="10010140" cy="1600200"/>
          </a:xfrm>
        </p:grpSpPr>
        <p:sp>
          <p:nvSpPr>
            <p:cNvPr id="10" name="object 10"/>
            <p:cNvSpPr/>
            <p:nvPr/>
          </p:nvSpPr>
          <p:spPr>
            <a:xfrm>
              <a:off x="1088136" y="2179319"/>
              <a:ext cx="10010140" cy="1600200"/>
            </a:xfrm>
            <a:custGeom>
              <a:avLst/>
              <a:gdLst/>
              <a:ahLst/>
              <a:cxnLst/>
              <a:rect l="l" t="t" r="r" b="b"/>
              <a:pathLst>
                <a:path w="10010140" h="1600200">
                  <a:moveTo>
                    <a:pt x="10009631" y="1600199"/>
                  </a:moveTo>
                  <a:lnTo>
                    <a:pt x="0" y="1600199"/>
                  </a:lnTo>
                  <a:lnTo>
                    <a:pt x="0" y="0"/>
                  </a:lnTo>
                  <a:lnTo>
                    <a:pt x="10009631" y="0"/>
                  </a:lnTo>
                  <a:lnTo>
                    <a:pt x="10009631" y="1600199"/>
                  </a:lnTo>
                  <a:close/>
                </a:path>
              </a:pathLst>
            </a:custGeom>
            <a:solidFill>
              <a:srgbClr val="00D4F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53311" y="2484119"/>
              <a:ext cx="9479280" cy="1069975"/>
            </a:xfrm>
            <a:custGeom>
              <a:avLst/>
              <a:gdLst/>
              <a:ahLst/>
              <a:cxnLst/>
              <a:rect l="l" t="t" r="r" b="b"/>
              <a:pathLst>
                <a:path w="9479280" h="1069975">
                  <a:moveTo>
                    <a:pt x="9479279" y="1069847"/>
                  </a:moveTo>
                  <a:lnTo>
                    <a:pt x="0" y="1069847"/>
                  </a:lnTo>
                  <a:lnTo>
                    <a:pt x="0" y="0"/>
                  </a:lnTo>
                  <a:lnTo>
                    <a:pt x="9479279" y="0"/>
                  </a:lnTo>
                  <a:lnTo>
                    <a:pt x="9479279" y="1069847"/>
                  </a:lnTo>
                  <a:close/>
                </a:path>
              </a:pathLst>
            </a:custGeom>
            <a:solidFill>
              <a:srgbClr val="000000">
                <a:alpha val="9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53311" y="2498089"/>
            <a:ext cx="9479280" cy="762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39395">
              <a:lnSpc>
                <a:spcPct val="100000"/>
              </a:lnSpc>
              <a:spcBef>
                <a:spcPts val="130"/>
              </a:spcBef>
            </a:pPr>
            <a:r>
              <a:rPr sz="4800" b="0" spc="-320" dirty="0">
                <a:latin typeface="Arial Black"/>
                <a:cs typeface="Arial Black"/>
              </a:rPr>
              <a:t>Multi-</a:t>
            </a:r>
            <a:r>
              <a:rPr sz="4800" b="0" spc="-415" dirty="0">
                <a:latin typeface="Arial Black"/>
                <a:cs typeface="Arial Black"/>
              </a:rPr>
              <a:t>Camera</a:t>
            </a:r>
            <a:r>
              <a:rPr sz="4800" b="0" spc="-370" dirty="0">
                <a:latin typeface="Arial Black"/>
                <a:cs typeface="Arial Black"/>
              </a:rPr>
              <a:t> </a:t>
            </a:r>
            <a:r>
              <a:rPr sz="4800" b="0" spc="-400" dirty="0">
                <a:latin typeface="Arial Black"/>
                <a:cs typeface="Arial Black"/>
              </a:rPr>
              <a:t>Tracking</a:t>
            </a:r>
            <a:r>
              <a:rPr sz="4800" b="0" spc="-370" dirty="0">
                <a:latin typeface="Arial Black"/>
                <a:cs typeface="Arial Black"/>
              </a:rPr>
              <a:t> </a:t>
            </a:r>
            <a:r>
              <a:rPr sz="4800" b="0" spc="-320" dirty="0">
                <a:latin typeface="Arial Black"/>
                <a:cs typeface="Arial Black"/>
              </a:rPr>
              <a:t>System</a:t>
            </a:r>
            <a:endParaRPr sz="480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028949" y="3467100"/>
            <a:ext cx="6134100" cy="952500"/>
            <a:chOff x="3028949" y="3467100"/>
            <a:chExt cx="6134100" cy="952500"/>
          </a:xfrm>
        </p:grpSpPr>
        <p:sp>
          <p:nvSpPr>
            <p:cNvPr id="14" name="object 14"/>
            <p:cNvSpPr/>
            <p:nvPr/>
          </p:nvSpPr>
          <p:spPr>
            <a:xfrm>
              <a:off x="3038474" y="3476625"/>
              <a:ext cx="6115050" cy="933450"/>
            </a:xfrm>
            <a:custGeom>
              <a:avLst/>
              <a:gdLst/>
              <a:ahLst/>
              <a:cxnLst/>
              <a:rect l="l" t="t" r="r" b="b"/>
              <a:pathLst>
                <a:path w="6115050" h="933450">
                  <a:moveTo>
                    <a:pt x="6052752" y="933449"/>
                  </a:moveTo>
                  <a:lnTo>
                    <a:pt x="62297" y="933449"/>
                  </a:lnTo>
                  <a:lnTo>
                    <a:pt x="57961" y="933022"/>
                  </a:lnTo>
                  <a:lnTo>
                    <a:pt x="22624" y="917016"/>
                  </a:lnTo>
                  <a:lnTo>
                    <a:pt x="2135" y="884076"/>
                  </a:lnTo>
                  <a:lnTo>
                    <a:pt x="0" y="871152"/>
                  </a:lnTo>
                  <a:lnTo>
                    <a:pt x="0" y="866774"/>
                  </a:lnTo>
                  <a:lnTo>
                    <a:pt x="0" y="62297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6052752" y="0"/>
                  </a:lnTo>
                  <a:lnTo>
                    <a:pt x="6089056" y="13669"/>
                  </a:lnTo>
                  <a:lnTo>
                    <a:pt x="6111649" y="45204"/>
                  </a:lnTo>
                  <a:lnTo>
                    <a:pt x="6115048" y="62297"/>
                  </a:lnTo>
                  <a:lnTo>
                    <a:pt x="6115048" y="871152"/>
                  </a:lnTo>
                  <a:lnTo>
                    <a:pt x="6101379" y="907457"/>
                  </a:lnTo>
                  <a:lnTo>
                    <a:pt x="6069844" y="930049"/>
                  </a:lnTo>
                  <a:lnTo>
                    <a:pt x="6057087" y="933022"/>
                  </a:lnTo>
                  <a:lnTo>
                    <a:pt x="6052752" y="933449"/>
                  </a:lnTo>
                  <a:close/>
                </a:path>
              </a:pathLst>
            </a:custGeom>
            <a:solidFill>
              <a:srgbClr val="00D4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38474" y="3476625"/>
              <a:ext cx="6115050" cy="933450"/>
            </a:xfrm>
            <a:custGeom>
              <a:avLst/>
              <a:gdLst/>
              <a:ahLst/>
              <a:cxnLst/>
              <a:rect l="l" t="t" r="r" b="b"/>
              <a:pathLst>
                <a:path w="6115050" h="933450">
                  <a:moveTo>
                    <a:pt x="0" y="8667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6048374" y="0"/>
                  </a:lnTo>
                  <a:lnTo>
                    <a:pt x="6052752" y="0"/>
                  </a:lnTo>
                  <a:lnTo>
                    <a:pt x="6057087" y="427"/>
                  </a:lnTo>
                  <a:lnTo>
                    <a:pt x="6092424" y="16432"/>
                  </a:lnTo>
                  <a:lnTo>
                    <a:pt x="6109973" y="41159"/>
                  </a:lnTo>
                  <a:lnTo>
                    <a:pt x="6111649" y="45204"/>
                  </a:lnTo>
                  <a:lnTo>
                    <a:pt x="6112913" y="49373"/>
                  </a:lnTo>
                  <a:lnTo>
                    <a:pt x="6113767" y="53667"/>
                  </a:lnTo>
                  <a:lnTo>
                    <a:pt x="6114621" y="57961"/>
                  </a:lnTo>
                  <a:lnTo>
                    <a:pt x="6115048" y="62297"/>
                  </a:lnTo>
                  <a:lnTo>
                    <a:pt x="6115049" y="66674"/>
                  </a:lnTo>
                  <a:lnTo>
                    <a:pt x="6115049" y="866774"/>
                  </a:lnTo>
                  <a:lnTo>
                    <a:pt x="6109973" y="892290"/>
                  </a:lnTo>
                  <a:lnTo>
                    <a:pt x="6108298" y="896334"/>
                  </a:lnTo>
                  <a:lnTo>
                    <a:pt x="6081776" y="924645"/>
                  </a:lnTo>
                  <a:lnTo>
                    <a:pt x="6073889" y="928374"/>
                  </a:lnTo>
                  <a:lnTo>
                    <a:pt x="6069844" y="930049"/>
                  </a:lnTo>
                  <a:lnTo>
                    <a:pt x="6065675" y="931314"/>
                  </a:lnTo>
                  <a:lnTo>
                    <a:pt x="6061381" y="932168"/>
                  </a:lnTo>
                  <a:lnTo>
                    <a:pt x="6057087" y="933022"/>
                  </a:lnTo>
                  <a:lnTo>
                    <a:pt x="6052752" y="933449"/>
                  </a:lnTo>
                  <a:lnTo>
                    <a:pt x="6048374" y="933449"/>
                  </a:lnTo>
                  <a:lnTo>
                    <a:pt x="66674" y="933449"/>
                  </a:lnTo>
                  <a:lnTo>
                    <a:pt x="62297" y="933449"/>
                  </a:lnTo>
                  <a:lnTo>
                    <a:pt x="57961" y="933022"/>
                  </a:lnTo>
                  <a:lnTo>
                    <a:pt x="22624" y="917016"/>
                  </a:lnTo>
                  <a:lnTo>
                    <a:pt x="2135" y="884076"/>
                  </a:lnTo>
                  <a:lnTo>
                    <a:pt x="0" y="871152"/>
                  </a:lnTo>
                  <a:lnTo>
                    <a:pt x="0" y="866774"/>
                  </a:lnTo>
                  <a:close/>
                </a:path>
              </a:pathLst>
            </a:custGeom>
            <a:ln w="19049">
              <a:solidFill>
                <a:srgbClr val="00D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340546" y="3583044"/>
            <a:ext cx="5511165" cy="6350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sz="1650" b="1" spc="-95" dirty="0">
                <a:solidFill>
                  <a:srgbClr val="00D4FF"/>
                </a:solidFill>
                <a:latin typeface="Arial"/>
                <a:cs typeface="Arial"/>
              </a:rPr>
              <a:t>YOLOv8</a:t>
            </a:r>
            <a:r>
              <a:rPr sz="1650" b="1" spc="-60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00D4FF"/>
                </a:solidFill>
                <a:latin typeface="Arial"/>
                <a:cs typeface="Arial"/>
              </a:rPr>
              <a:t>+</a:t>
            </a:r>
            <a:r>
              <a:rPr sz="1650" b="1" spc="-60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spc="-100" dirty="0">
                <a:solidFill>
                  <a:srgbClr val="00D4FF"/>
                </a:solidFill>
                <a:latin typeface="Arial"/>
                <a:cs typeface="Arial"/>
              </a:rPr>
              <a:t>DeepSORT</a:t>
            </a:r>
            <a:r>
              <a:rPr sz="1650" b="1" spc="-55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00D4FF"/>
                </a:solidFill>
                <a:latin typeface="Arial"/>
                <a:cs typeface="Arial"/>
              </a:rPr>
              <a:t>+</a:t>
            </a:r>
            <a:r>
              <a:rPr sz="1650" b="1" spc="-60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spc="-95" dirty="0">
                <a:solidFill>
                  <a:srgbClr val="00D4FF"/>
                </a:solidFill>
                <a:latin typeface="Arial"/>
                <a:cs typeface="Arial"/>
              </a:rPr>
              <a:t>Kalman</a:t>
            </a:r>
            <a:r>
              <a:rPr sz="1650" b="1" spc="-60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00D4FF"/>
                </a:solidFill>
                <a:latin typeface="Arial"/>
                <a:cs typeface="Arial"/>
              </a:rPr>
              <a:t>+</a:t>
            </a:r>
            <a:r>
              <a:rPr sz="1650" b="1" spc="-60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spc="-110" dirty="0">
                <a:solidFill>
                  <a:srgbClr val="00D4FF"/>
                </a:solidFill>
                <a:latin typeface="Arial"/>
                <a:cs typeface="Arial"/>
              </a:rPr>
              <a:t>PID</a:t>
            </a:r>
            <a:r>
              <a:rPr sz="1650" b="1" spc="-55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00D4FF"/>
                </a:solidFill>
                <a:latin typeface="Arial"/>
                <a:cs typeface="Arial"/>
              </a:rPr>
              <a:t>+</a:t>
            </a:r>
            <a:r>
              <a:rPr sz="1650" b="1" spc="-60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spc="-70" dirty="0">
                <a:solidFill>
                  <a:srgbClr val="00D4FF"/>
                </a:solidFill>
                <a:latin typeface="Arial"/>
                <a:cs typeface="Arial"/>
              </a:rPr>
              <a:t>Distance</a:t>
            </a:r>
            <a:r>
              <a:rPr sz="1650" b="1" spc="-60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spc="-50" dirty="0">
                <a:solidFill>
                  <a:srgbClr val="00D4FF"/>
                </a:solidFill>
                <a:latin typeface="Arial"/>
                <a:cs typeface="Arial"/>
              </a:rPr>
              <a:t>Estimation</a:t>
            </a:r>
            <a:endParaRPr sz="16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650" b="1" dirty="0">
                <a:solidFill>
                  <a:srgbClr val="00D4FF"/>
                </a:solidFill>
                <a:latin typeface="Arial"/>
                <a:cs typeface="Arial"/>
              </a:rPr>
              <a:t>+</a:t>
            </a:r>
            <a:r>
              <a:rPr sz="1650" b="1" spc="-35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spc="-20" dirty="0">
                <a:solidFill>
                  <a:srgbClr val="00D4FF"/>
                </a:solidFill>
                <a:latin typeface="Arial"/>
                <a:cs typeface="Arial"/>
              </a:rPr>
              <a:t>Multi-</a:t>
            </a:r>
            <a:r>
              <a:rPr sz="1650" b="1" spc="-80" dirty="0">
                <a:solidFill>
                  <a:srgbClr val="00D4FF"/>
                </a:solidFill>
                <a:latin typeface="Arial"/>
                <a:cs typeface="Arial"/>
              </a:rPr>
              <a:t>Camera</a:t>
            </a:r>
            <a:r>
              <a:rPr sz="1650" b="1" spc="-35" dirty="0">
                <a:solidFill>
                  <a:srgbClr val="00D4FF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00D4FF"/>
                </a:solidFill>
                <a:latin typeface="Arial"/>
                <a:cs typeface="Arial"/>
              </a:rPr>
              <a:t>Fusion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4799" y="5295899"/>
            <a:ext cx="9372600" cy="1257300"/>
            <a:chOff x="304799" y="5295899"/>
            <a:chExt cx="9372600" cy="12573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4599" y="5295899"/>
              <a:ext cx="571499" cy="190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05899" y="5295899"/>
              <a:ext cx="571499" cy="1904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04799" y="6153149"/>
              <a:ext cx="1457325" cy="400050"/>
            </a:xfrm>
            <a:custGeom>
              <a:avLst/>
              <a:gdLst/>
              <a:ahLst/>
              <a:cxnLst/>
              <a:rect l="l" t="t" r="r" b="b"/>
              <a:pathLst>
                <a:path w="1457324" h="400050">
                  <a:moveTo>
                    <a:pt x="1407753" y="400049"/>
                  </a:moveTo>
                  <a:lnTo>
                    <a:pt x="49571" y="400049"/>
                  </a:lnTo>
                  <a:lnTo>
                    <a:pt x="42281" y="398598"/>
                  </a:lnTo>
                  <a:lnTo>
                    <a:pt x="7250" y="371771"/>
                  </a:lnTo>
                  <a:lnTo>
                    <a:pt x="0" y="350477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1407753" y="0"/>
                  </a:lnTo>
                  <a:lnTo>
                    <a:pt x="1445944" y="22096"/>
                  </a:lnTo>
                  <a:lnTo>
                    <a:pt x="1457324" y="49570"/>
                  </a:lnTo>
                  <a:lnTo>
                    <a:pt x="1457324" y="350477"/>
                  </a:lnTo>
                  <a:lnTo>
                    <a:pt x="1435227" y="388669"/>
                  </a:lnTo>
                  <a:lnTo>
                    <a:pt x="1407753" y="400049"/>
                  </a:lnTo>
                  <a:close/>
                </a:path>
              </a:pathLst>
            </a:custGeom>
            <a:solidFill>
              <a:srgbClr val="00D4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4799" y="6153149"/>
              <a:ext cx="1457325" cy="400050"/>
            </a:xfrm>
            <a:custGeom>
              <a:avLst/>
              <a:gdLst/>
              <a:ahLst/>
              <a:cxnLst/>
              <a:rect l="l" t="t" r="r" b="b"/>
              <a:pathLst>
                <a:path w="1457325" h="400050">
                  <a:moveTo>
                    <a:pt x="1407753" y="400049"/>
                  </a:moveTo>
                  <a:lnTo>
                    <a:pt x="49571" y="400049"/>
                  </a:lnTo>
                  <a:lnTo>
                    <a:pt x="42281" y="398598"/>
                  </a:lnTo>
                  <a:lnTo>
                    <a:pt x="7250" y="371771"/>
                  </a:lnTo>
                  <a:lnTo>
                    <a:pt x="0" y="49570"/>
                  </a:lnTo>
                  <a:lnTo>
                    <a:pt x="1450" y="42280"/>
                  </a:lnTo>
                  <a:lnTo>
                    <a:pt x="28277" y="7249"/>
                  </a:lnTo>
                  <a:lnTo>
                    <a:pt x="1407753" y="0"/>
                  </a:lnTo>
                  <a:lnTo>
                    <a:pt x="1415043" y="1449"/>
                  </a:lnTo>
                  <a:lnTo>
                    <a:pt x="1429046" y="7249"/>
                  </a:lnTo>
                  <a:lnTo>
                    <a:pt x="1432451" y="9524"/>
                  </a:lnTo>
                  <a:lnTo>
                    <a:pt x="50834" y="9524"/>
                  </a:lnTo>
                  <a:lnTo>
                    <a:pt x="44759" y="10733"/>
                  </a:lnTo>
                  <a:lnTo>
                    <a:pt x="10733" y="44759"/>
                  </a:lnTo>
                  <a:lnTo>
                    <a:pt x="9525" y="50834"/>
                  </a:lnTo>
                  <a:lnTo>
                    <a:pt x="9525" y="349215"/>
                  </a:lnTo>
                  <a:lnTo>
                    <a:pt x="33089" y="384482"/>
                  </a:lnTo>
                  <a:lnTo>
                    <a:pt x="50834" y="390524"/>
                  </a:lnTo>
                  <a:lnTo>
                    <a:pt x="1432449" y="390524"/>
                  </a:lnTo>
                  <a:lnTo>
                    <a:pt x="1429046" y="392798"/>
                  </a:lnTo>
                  <a:lnTo>
                    <a:pt x="1415043" y="398598"/>
                  </a:lnTo>
                  <a:lnTo>
                    <a:pt x="1407753" y="400049"/>
                  </a:lnTo>
                  <a:close/>
                </a:path>
                <a:path w="1457325" h="400050">
                  <a:moveTo>
                    <a:pt x="1432449" y="390524"/>
                  </a:moveTo>
                  <a:lnTo>
                    <a:pt x="1406490" y="390524"/>
                  </a:lnTo>
                  <a:lnTo>
                    <a:pt x="1412565" y="389316"/>
                  </a:lnTo>
                  <a:lnTo>
                    <a:pt x="1424234" y="384482"/>
                  </a:lnTo>
                  <a:lnTo>
                    <a:pt x="1447799" y="349215"/>
                  </a:lnTo>
                  <a:lnTo>
                    <a:pt x="1447799" y="50834"/>
                  </a:lnTo>
                  <a:lnTo>
                    <a:pt x="1424234" y="15566"/>
                  </a:lnTo>
                  <a:lnTo>
                    <a:pt x="1406490" y="9524"/>
                  </a:lnTo>
                  <a:lnTo>
                    <a:pt x="1432451" y="9524"/>
                  </a:lnTo>
                  <a:lnTo>
                    <a:pt x="1455874" y="42280"/>
                  </a:lnTo>
                  <a:lnTo>
                    <a:pt x="1457324" y="49570"/>
                  </a:lnTo>
                  <a:lnTo>
                    <a:pt x="1457324" y="350477"/>
                  </a:lnTo>
                  <a:lnTo>
                    <a:pt x="1455874" y="357767"/>
                  </a:lnTo>
                  <a:lnTo>
                    <a:pt x="1450074" y="371771"/>
                  </a:lnTo>
                  <a:lnTo>
                    <a:pt x="1445944" y="377951"/>
                  </a:lnTo>
                  <a:lnTo>
                    <a:pt x="1435227" y="388669"/>
                  </a:lnTo>
                  <a:lnTo>
                    <a:pt x="1432449" y="390524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6724" y="6296024"/>
              <a:ext cx="171450" cy="1143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183979" y="5168372"/>
            <a:ext cx="581977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00" spc="-20" dirty="0">
                <a:solidFill>
                  <a:srgbClr val="A0AEBF"/>
                </a:solidFill>
                <a:latin typeface="Microsoft Sans Serif"/>
                <a:cs typeface="Microsoft Sans Serif"/>
              </a:rPr>
              <a:t>Real</a:t>
            </a:r>
            <a:r>
              <a:rPr sz="1450" spc="-20" dirty="0">
                <a:solidFill>
                  <a:srgbClr val="A0AEBF"/>
                </a:solidFill>
                <a:latin typeface="Microsoft Sans Serif"/>
                <a:cs typeface="Microsoft Sans Serif"/>
              </a:rPr>
              <a:t>-</a:t>
            </a:r>
            <a:r>
              <a:rPr sz="1500" dirty="0">
                <a:solidFill>
                  <a:srgbClr val="A0AEBF"/>
                </a:solidFill>
                <a:latin typeface="Microsoft Sans Serif"/>
                <a:cs typeface="Microsoft Sans Serif"/>
              </a:rPr>
              <a:t>time</a:t>
            </a:r>
            <a:r>
              <a:rPr sz="1500" spc="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A0AEBF"/>
                </a:solidFill>
                <a:latin typeface="Microsoft Sans Serif"/>
                <a:cs typeface="Microsoft Sans Serif"/>
              </a:rPr>
              <a:t>Vision</a:t>
            </a:r>
            <a:r>
              <a:rPr sz="1500" spc="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A0AEBF"/>
                </a:solidFill>
                <a:latin typeface="Microsoft Sans Serif"/>
                <a:cs typeface="Microsoft Sans Serif"/>
              </a:rPr>
              <a:t>System</a:t>
            </a:r>
            <a:r>
              <a:rPr sz="1500" spc="1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A0AEBF"/>
                </a:solidFill>
                <a:latin typeface="Microsoft Sans Serif"/>
                <a:cs typeface="Microsoft Sans Serif"/>
              </a:rPr>
              <a:t>for</a:t>
            </a:r>
            <a:r>
              <a:rPr sz="1500" spc="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A0AEBF"/>
                </a:solidFill>
                <a:latin typeface="Microsoft Sans Serif"/>
                <a:cs typeface="Microsoft Sans Serif"/>
              </a:rPr>
              <a:t>Aerial</a:t>
            </a:r>
            <a:r>
              <a:rPr sz="1500" spc="1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A0AEBF"/>
                </a:solidFill>
                <a:latin typeface="Microsoft Sans Serif"/>
                <a:cs typeface="Microsoft Sans Serif"/>
              </a:rPr>
              <a:t>Robotics</a:t>
            </a:r>
            <a:r>
              <a:rPr sz="1500" spc="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450" dirty="0">
                <a:solidFill>
                  <a:srgbClr val="A0AEBF"/>
                </a:solidFill>
                <a:latin typeface="Microsoft Sans Serif"/>
                <a:cs typeface="Microsoft Sans Serif"/>
              </a:rPr>
              <a:t>&amp;</a:t>
            </a:r>
            <a:r>
              <a:rPr sz="1450" spc="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A0AEBF"/>
                </a:solidFill>
                <a:latin typeface="Microsoft Sans Serif"/>
                <a:cs typeface="Microsoft Sans Serif"/>
              </a:rPr>
              <a:t>Autonomous</a:t>
            </a:r>
            <a:r>
              <a:rPr sz="1500" spc="1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Tracking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1674" y="6243438"/>
            <a:ext cx="913130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Multi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50" b="1" spc="-45" dirty="0">
                <a:solidFill>
                  <a:srgbClr val="FFFFFF"/>
                </a:solidFill>
                <a:latin typeface="Arial"/>
                <a:cs typeface="Arial"/>
              </a:rPr>
              <a:t>Camera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914524" y="6153150"/>
            <a:ext cx="1771650" cy="400050"/>
            <a:chOff x="1914524" y="6153150"/>
            <a:chExt cx="1771650" cy="400050"/>
          </a:xfrm>
        </p:grpSpPr>
        <p:sp>
          <p:nvSpPr>
            <p:cNvPr id="26" name="object 26"/>
            <p:cNvSpPr/>
            <p:nvPr/>
          </p:nvSpPr>
          <p:spPr>
            <a:xfrm>
              <a:off x="1914524" y="6153150"/>
              <a:ext cx="1771650" cy="400050"/>
            </a:xfrm>
            <a:custGeom>
              <a:avLst/>
              <a:gdLst/>
              <a:ahLst/>
              <a:cxnLst/>
              <a:rect l="l" t="t" r="r" b="b"/>
              <a:pathLst>
                <a:path w="1771650" h="400050">
                  <a:moveTo>
                    <a:pt x="1722078" y="400049"/>
                  </a:moveTo>
                  <a:lnTo>
                    <a:pt x="49571" y="400049"/>
                  </a:lnTo>
                  <a:lnTo>
                    <a:pt x="42281" y="398598"/>
                  </a:lnTo>
                  <a:lnTo>
                    <a:pt x="7250" y="371771"/>
                  </a:lnTo>
                  <a:lnTo>
                    <a:pt x="0" y="350477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1722078" y="0"/>
                  </a:lnTo>
                  <a:lnTo>
                    <a:pt x="1760269" y="22096"/>
                  </a:lnTo>
                  <a:lnTo>
                    <a:pt x="1771650" y="49570"/>
                  </a:lnTo>
                  <a:lnTo>
                    <a:pt x="1771650" y="350477"/>
                  </a:lnTo>
                  <a:lnTo>
                    <a:pt x="1749552" y="388669"/>
                  </a:lnTo>
                  <a:lnTo>
                    <a:pt x="1722078" y="400049"/>
                  </a:lnTo>
                  <a:close/>
                </a:path>
              </a:pathLst>
            </a:custGeom>
            <a:solidFill>
              <a:srgbClr val="00D4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14524" y="6153150"/>
              <a:ext cx="1771650" cy="400050"/>
            </a:xfrm>
            <a:custGeom>
              <a:avLst/>
              <a:gdLst/>
              <a:ahLst/>
              <a:cxnLst/>
              <a:rect l="l" t="t" r="r" b="b"/>
              <a:pathLst>
                <a:path w="1771650" h="400050">
                  <a:moveTo>
                    <a:pt x="1722078" y="400049"/>
                  </a:moveTo>
                  <a:lnTo>
                    <a:pt x="49571" y="400049"/>
                  </a:lnTo>
                  <a:lnTo>
                    <a:pt x="42281" y="398598"/>
                  </a:lnTo>
                  <a:lnTo>
                    <a:pt x="7250" y="371771"/>
                  </a:lnTo>
                  <a:lnTo>
                    <a:pt x="0" y="350477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1722078" y="0"/>
                  </a:lnTo>
                  <a:lnTo>
                    <a:pt x="1729368" y="1449"/>
                  </a:lnTo>
                  <a:lnTo>
                    <a:pt x="1743371" y="7249"/>
                  </a:lnTo>
                  <a:lnTo>
                    <a:pt x="1746776" y="9524"/>
                  </a:lnTo>
                  <a:lnTo>
                    <a:pt x="50834" y="9524"/>
                  </a:lnTo>
                  <a:lnTo>
                    <a:pt x="44759" y="10733"/>
                  </a:lnTo>
                  <a:lnTo>
                    <a:pt x="10733" y="44759"/>
                  </a:lnTo>
                  <a:lnTo>
                    <a:pt x="9524" y="50834"/>
                  </a:lnTo>
                  <a:lnTo>
                    <a:pt x="9524" y="349215"/>
                  </a:lnTo>
                  <a:lnTo>
                    <a:pt x="33090" y="384482"/>
                  </a:lnTo>
                  <a:lnTo>
                    <a:pt x="50834" y="390524"/>
                  </a:lnTo>
                  <a:lnTo>
                    <a:pt x="1746774" y="390524"/>
                  </a:lnTo>
                  <a:lnTo>
                    <a:pt x="1743371" y="392798"/>
                  </a:lnTo>
                  <a:lnTo>
                    <a:pt x="1729368" y="398598"/>
                  </a:lnTo>
                  <a:lnTo>
                    <a:pt x="1722078" y="400049"/>
                  </a:lnTo>
                  <a:close/>
                </a:path>
                <a:path w="1771650" h="400050">
                  <a:moveTo>
                    <a:pt x="1746774" y="390524"/>
                  </a:moveTo>
                  <a:lnTo>
                    <a:pt x="1720814" y="390524"/>
                  </a:lnTo>
                  <a:lnTo>
                    <a:pt x="1726889" y="389316"/>
                  </a:lnTo>
                  <a:lnTo>
                    <a:pt x="1738559" y="384482"/>
                  </a:lnTo>
                  <a:lnTo>
                    <a:pt x="1762124" y="349215"/>
                  </a:lnTo>
                  <a:lnTo>
                    <a:pt x="1762124" y="50834"/>
                  </a:lnTo>
                  <a:lnTo>
                    <a:pt x="1738559" y="15566"/>
                  </a:lnTo>
                  <a:lnTo>
                    <a:pt x="1720814" y="9524"/>
                  </a:lnTo>
                  <a:lnTo>
                    <a:pt x="1746776" y="9524"/>
                  </a:lnTo>
                  <a:lnTo>
                    <a:pt x="1770199" y="42280"/>
                  </a:lnTo>
                  <a:lnTo>
                    <a:pt x="1771650" y="49570"/>
                  </a:lnTo>
                  <a:lnTo>
                    <a:pt x="1771650" y="350477"/>
                  </a:lnTo>
                  <a:lnTo>
                    <a:pt x="1770199" y="357767"/>
                  </a:lnTo>
                  <a:lnTo>
                    <a:pt x="1764398" y="371771"/>
                  </a:lnTo>
                  <a:lnTo>
                    <a:pt x="1760269" y="377951"/>
                  </a:lnTo>
                  <a:lnTo>
                    <a:pt x="1749552" y="388669"/>
                  </a:lnTo>
                  <a:lnTo>
                    <a:pt x="1746774" y="390524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78235" y="6276974"/>
              <a:ext cx="152400" cy="1524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2294135" y="6243438"/>
            <a:ext cx="124142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b="1" spc="-45" dirty="0">
                <a:solidFill>
                  <a:srgbClr val="FFFFFF"/>
                </a:solidFill>
                <a:latin typeface="Arial"/>
                <a:cs typeface="Arial"/>
              </a:rPr>
              <a:t>Real</a:t>
            </a:r>
            <a:r>
              <a:rPr sz="1200" b="1" spc="-4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50" b="1" spc="-5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115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50" b="1" spc="-45" dirty="0">
                <a:solidFill>
                  <a:srgbClr val="FFFFFF"/>
                </a:solidFill>
                <a:latin typeface="Arial"/>
                <a:cs typeface="Arial"/>
              </a:rPr>
              <a:t>Tracking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38574" y="6153150"/>
            <a:ext cx="1314450" cy="400050"/>
            <a:chOff x="3838574" y="6153150"/>
            <a:chExt cx="1314450" cy="400050"/>
          </a:xfrm>
        </p:grpSpPr>
        <p:sp>
          <p:nvSpPr>
            <p:cNvPr id="31" name="object 31"/>
            <p:cNvSpPr/>
            <p:nvPr/>
          </p:nvSpPr>
          <p:spPr>
            <a:xfrm>
              <a:off x="3838574" y="615315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1264878" y="400049"/>
                  </a:moveTo>
                  <a:lnTo>
                    <a:pt x="49571" y="400049"/>
                  </a:lnTo>
                  <a:lnTo>
                    <a:pt x="42281" y="398598"/>
                  </a:lnTo>
                  <a:lnTo>
                    <a:pt x="7250" y="371771"/>
                  </a:lnTo>
                  <a:lnTo>
                    <a:pt x="0" y="350477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1264878" y="0"/>
                  </a:lnTo>
                  <a:lnTo>
                    <a:pt x="1303069" y="22096"/>
                  </a:lnTo>
                  <a:lnTo>
                    <a:pt x="1314449" y="49570"/>
                  </a:lnTo>
                  <a:lnTo>
                    <a:pt x="1314449" y="350477"/>
                  </a:lnTo>
                  <a:lnTo>
                    <a:pt x="1292351" y="388669"/>
                  </a:lnTo>
                  <a:lnTo>
                    <a:pt x="1264878" y="400049"/>
                  </a:lnTo>
                  <a:close/>
                </a:path>
              </a:pathLst>
            </a:custGeom>
            <a:solidFill>
              <a:srgbClr val="00D4FF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38574" y="6153150"/>
              <a:ext cx="1314450" cy="400050"/>
            </a:xfrm>
            <a:custGeom>
              <a:avLst/>
              <a:gdLst/>
              <a:ahLst/>
              <a:cxnLst/>
              <a:rect l="l" t="t" r="r" b="b"/>
              <a:pathLst>
                <a:path w="1314450" h="400050">
                  <a:moveTo>
                    <a:pt x="1264878" y="400049"/>
                  </a:moveTo>
                  <a:lnTo>
                    <a:pt x="49571" y="400049"/>
                  </a:lnTo>
                  <a:lnTo>
                    <a:pt x="42281" y="398598"/>
                  </a:lnTo>
                  <a:lnTo>
                    <a:pt x="7250" y="371771"/>
                  </a:lnTo>
                  <a:lnTo>
                    <a:pt x="0" y="350477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1264878" y="0"/>
                  </a:lnTo>
                  <a:lnTo>
                    <a:pt x="1272168" y="1449"/>
                  </a:lnTo>
                  <a:lnTo>
                    <a:pt x="1286171" y="7249"/>
                  </a:lnTo>
                  <a:lnTo>
                    <a:pt x="1289576" y="9524"/>
                  </a:lnTo>
                  <a:lnTo>
                    <a:pt x="50834" y="9524"/>
                  </a:lnTo>
                  <a:lnTo>
                    <a:pt x="44759" y="10733"/>
                  </a:lnTo>
                  <a:lnTo>
                    <a:pt x="10733" y="44759"/>
                  </a:lnTo>
                  <a:lnTo>
                    <a:pt x="9524" y="50834"/>
                  </a:lnTo>
                  <a:lnTo>
                    <a:pt x="9524" y="349215"/>
                  </a:lnTo>
                  <a:lnTo>
                    <a:pt x="33089" y="384482"/>
                  </a:lnTo>
                  <a:lnTo>
                    <a:pt x="50834" y="390524"/>
                  </a:lnTo>
                  <a:lnTo>
                    <a:pt x="1289574" y="390524"/>
                  </a:lnTo>
                  <a:lnTo>
                    <a:pt x="1286171" y="392798"/>
                  </a:lnTo>
                  <a:lnTo>
                    <a:pt x="1272168" y="398598"/>
                  </a:lnTo>
                  <a:lnTo>
                    <a:pt x="1264878" y="400049"/>
                  </a:lnTo>
                  <a:close/>
                </a:path>
                <a:path w="1314450" h="400050">
                  <a:moveTo>
                    <a:pt x="1289574" y="390524"/>
                  </a:moveTo>
                  <a:lnTo>
                    <a:pt x="1263615" y="390524"/>
                  </a:lnTo>
                  <a:lnTo>
                    <a:pt x="1269689" y="389316"/>
                  </a:lnTo>
                  <a:lnTo>
                    <a:pt x="1281359" y="384482"/>
                  </a:lnTo>
                  <a:lnTo>
                    <a:pt x="1304924" y="349215"/>
                  </a:lnTo>
                  <a:lnTo>
                    <a:pt x="1304924" y="50834"/>
                  </a:lnTo>
                  <a:lnTo>
                    <a:pt x="1281359" y="15566"/>
                  </a:lnTo>
                  <a:lnTo>
                    <a:pt x="1263615" y="9524"/>
                  </a:lnTo>
                  <a:lnTo>
                    <a:pt x="1289576" y="9524"/>
                  </a:lnTo>
                  <a:lnTo>
                    <a:pt x="1312999" y="42280"/>
                  </a:lnTo>
                  <a:lnTo>
                    <a:pt x="1314450" y="49570"/>
                  </a:lnTo>
                  <a:lnTo>
                    <a:pt x="1314450" y="350477"/>
                  </a:lnTo>
                  <a:lnTo>
                    <a:pt x="1312999" y="357767"/>
                  </a:lnTo>
                  <a:lnTo>
                    <a:pt x="1307199" y="371771"/>
                  </a:lnTo>
                  <a:lnTo>
                    <a:pt x="1303069" y="377951"/>
                  </a:lnTo>
                  <a:lnTo>
                    <a:pt x="1292352" y="388669"/>
                  </a:lnTo>
                  <a:lnTo>
                    <a:pt x="1289574" y="390524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98862" y="6276974"/>
              <a:ext cx="152400" cy="15240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214762" y="6243438"/>
            <a:ext cx="786765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50" b="1" spc="-1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150" b="1" spc="-50" dirty="0">
                <a:solidFill>
                  <a:srgbClr val="FFFFFF"/>
                </a:solidFill>
                <a:latin typeface="Arial"/>
                <a:cs typeface="Arial"/>
              </a:rPr>
              <a:t>Powered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0311" y="2432303"/>
            <a:ext cx="2908300" cy="1442085"/>
          </a:xfrm>
          <a:prstGeom prst="rect">
            <a:avLst/>
          </a:prstGeom>
          <a:solidFill>
            <a:srgbClr val="00D4FF">
              <a:alpha val="50199"/>
            </a:srgbClr>
          </a:solidFill>
        </p:spPr>
        <p:txBody>
          <a:bodyPr vert="horz" wrap="square" lIns="0" tIns="120014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944"/>
              </a:spcBef>
            </a:pPr>
            <a:r>
              <a:rPr sz="3600" b="1" spc="270" dirty="0">
                <a:solidFill>
                  <a:srgbClr val="FFFFFF"/>
                </a:solidFill>
                <a:latin typeface="Trebuchet MS"/>
                <a:cs typeface="Trebuchet MS"/>
              </a:rPr>
              <a:t>Project</a:t>
            </a:r>
            <a:endParaRPr sz="3600">
              <a:latin typeface="Trebuchet MS"/>
              <a:cs typeface="Trebuchet MS"/>
            </a:endParaRPr>
          </a:p>
          <a:p>
            <a:pPr marL="246379">
              <a:lnSpc>
                <a:spcPct val="100000"/>
              </a:lnSpc>
              <a:spcBef>
                <a:spcPts val="30"/>
              </a:spcBef>
            </a:pPr>
            <a:r>
              <a:rPr sz="3600" b="1" spc="365" dirty="0">
                <a:solidFill>
                  <a:srgbClr val="FFFFFF"/>
                </a:solidFill>
                <a:latin typeface="Trebuchet MS"/>
                <a:cs typeface="Trebuchet MS"/>
              </a:rPr>
              <a:t>Overview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914775"/>
            <a:ext cx="1142999" cy="380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076699" y="76199"/>
            <a:ext cx="8039100" cy="1714500"/>
            <a:chOff x="4076699" y="76199"/>
            <a:chExt cx="8039100" cy="1714500"/>
          </a:xfrm>
        </p:grpSpPr>
        <p:sp>
          <p:nvSpPr>
            <p:cNvPr id="6" name="object 6"/>
            <p:cNvSpPr/>
            <p:nvPr/>
          </p:nvSpPr>
          <p:spPr>
            <a:xfrm>
              <a:off x="10410824" y="85724"/>
              <a:ext cx="1695450" cy="1695450"/>
            </a:xfrm>
            <a:custGeom>
              <a:avLst/>
              <a:gdLst/>
              <a:ahLst/>
              <a:cxnLst/>
              <a:rect l="l" t="t" r="r" b="b"/>
              <a:pathLst>
                <a:path w="1695450" h="1695450">
                  <a:moveTo>
                    <a:pt x="1695449" y="847724"/>
                  </a:moveTo>
                  <a:lnTo>
                    <a:pt x="1694428" y="889320"/>
                  </a:lnTo>
                  <a:lnTo>
                    <a:pt x="1691367" y="930816"/>
                  </a:lnTo>
                  <a:lnTo>
                    <a:pt x="1686274" y="972111"/>
                  </a:lnTo>
                  <a:lnTo>
                    <a:pt x="1679160" y="1013107"/>
                  </a:lnTo>
                  <a:lnTo>
                    <a:pt x="1670044" y="1053705"/>
                  </a:lnTo>
                  <a:lnTo>
                    <a:pt x="1658947" y="1093806"/>
                  </a:lnTo>
                  <a:lnTo>
                    <a:pt x="1645895" y="1133314"/>
                  </a:lnTo>
                  <a:lnTo>
                    <a:pt x="1630920" y="1172135"/>
                  </a:lnTo>
                  <a:lnTo>
                    <a:pt x="1614059" y="1210173"/>
                  </a:lnTo>
                  <a:lnTo>
                    <a:pt x="1595351" y="1247339"/>
                  </a:lnTo>
                  <a:lnTo>
                    <a:pt x="1574842" y="1283542"/>
                  </a:lnTo>
                  <a:lnTo>
                    <a:pt x="1552582" y="1318695"/>
                  </a:lnTo>
                  <a:lnTo>
                    <a:pt x="1528623" y="1352713"/>
                  </a:lnTo>
                  <a:lnTo>
                    <a:pt x="1503025" y="1385515"/>
                  </a:lnTo>
                  <a:lnTo>
                    <a:pt x="1475847" y="1417022"/>
                  </a:lnTo>
                  <a:lnTo>
                    <a:pt x="1447156" y="1447156"/>
                  </a:lnTo>
                  <a:lnTo>
                    <a:pt x="1417022" y="1475847"/>
                  </a:lnTo>
                  <a:lnTo>
                    <a:pt x="1385515" y="1503025"/>
                  </a:lnTo>
                  <a:lnTo>
                    <a:pt x="1352713" y="1528624"/>
                  </a:lnTo>
                  <a:lnTo>
                    <a:pt x="1318695" y="1552582"/>
                  </a:lnTo>
                  <a:lnTo>
                    <a:pt x="1283542" y="1574842"/>
                  </a:lnTo>
                  <a:lnTo>
                    <a:pt x="1247339" y="1595351"/>
                  </a:lnTo>
                  <a:lnTo>
                    <a:pt x="1210173" y="1614059"/>
                  </a:lnTo>
                  <a:lnTo>
                    <a:pt x="1172135" y="1630920"/>
                  </a:lnTo>
                  <a:lnTo>
                    <a:pt x="1133314" y="1645895"/>
                  </a:lnTo>
                  <a:lnTo>
                    <a:pt x="1093806" y="1658947"/>
                  </a:lnTo>
                  <a:lnTo>
                    <a:pt x="1053705" y="1670044"/>
                  </a:lnTo>
                  <a:lnTo>
                    <a:pt x="1013107" y="1679160"/>
                  </a:lnTo>
                  <a:lnTo>
                    <a:pt x="972111" y="1686274"/>
                  </a:lnTo>
                  <a:lnTo>
                    <a:pt x="930816" y="1691367"/>
                  </a:lnTo>
                  <a:lnTo>
                    <a:pt x="889320" y="1694428"/>
                  </a:lnTo>
                  <a:lnTo>
                    <a:pt x="847724" y="1695449"/>
                  </a:lnTo>
                  <a:lnTo>
                    <a:pt x="837321" y="1695385"/>
                  </a:lnTo>
                  <a:lnTo>
                    <a:pt x="795741" y="1693854"/>
                  </a:lnTo>
                  <a:lnTo>
                    <a:pt x="754285" y="1690284"/>
                  </a:lnTo>
                  <a:lnTo>
                    <a:pt x="713056" y="1684684"/>
                  </a:lnTo>
                  <a:lnTo>
                    <a:pt x="672150" y="1677068"/>
                  </a:lnTo>
                  <a:lnTo>
                    <a:pt x="631668" y="1667454"/>
                  </a:lnTo>
                  <a:lnTo>
                    <a:pt x="591706" y="1655866"/>
                  </a:lnTo>
                  <a:lnTo>
                    <a:pt x="552360" y="1642330"/>
                  </a:lnTo>
                  <a:lnTo>
                    <a:pt x="513727" y="1626880"/>
                  </a:lnTo>
                  <a:lnTo>
                    <a:pt x="475898" y="1609553"/>
                  </a:lnTo>
                  <a:lnTo>
                    <a:pt x="438965" y="1590391"/>
                  </a:lnTo>
                  <a:lnTo>
                    <a:pt x="403016" y="1569439"/>
                  </a:lnTo>
                  <a:lnTo>
                    <a:pt x="368139" y="1546749"/>
                  </a:lnTo>
                  <a:lnTo>
                    <a:pt x="334417" y="1522375"/>
                  </a:lnTo>
                  <a:lnTo>
                    <a:pt x="301932" y="1496375"/>
                  </a:lnTo>
                  <a:lnTo>
                    <a:pt x="270761" y="1468813"/>
                  </a:lnTo>
                  <a:lnTo>
                    <a:pt x="240981" y="1439755"/>
                  </a:lnTo>
                  <a:lnTo>
                    <a:pt x="212662" y="1409270"/>
                  </a:lnTo>
                  <a:lnTo>
                    <a:pt x="185873" y="1377433"/>
                  </a:lnTo>
                  <a:lnTo>
                    <a:pt x="160679" y="1344319"/>
                  </a:lnTo>
                  <a:lnTo>
                    <a:pt x="137140" y="1310009"/>
                  </a:lnTo>
                  <a:lnTo>
                    <a:pt x="115313" y="1274586"/>
                  </a:lnTo>
                  <a:lnTo>
                    <a:pt x="95250" y="1238134"/>
                  </a:lnTo>
                  <a:lnTo>
                    <a:pt x="77000" y="1200741"/>
                  </a:lnTo>
                  <a:lnTo>
                    <a:pt x="60606" y="1162498"/>
                  </a:lnTo>
                  <a:lnTo>
                    <a:pt x="46109" y="1123497"/>
                  </a:lnTo>
                  <a:lnTo>
                    <a:pt x="33543" y="1083832"/>
                  </a:lnTo>
                  <a:lnTo>
                    <a:pt x="22939" y="1043597"/>
                  </a:lnTo>
                  <a:lnTo>
                    <a:pt x="14321" y="1002891"/>
                  </a:lnTo>
                  <a:lnTo>
                    <a:pt x="7711" y="961811"/>
                  </a:lnTo>
                  <a:lnTo>
                    <a:pt x="3125" y="920456"/>
                  </a:lnTo>
                  <a:lnTo>
                    <a:pt x="574" y="878926"/>
                  </a:lnTo>
                  <a:lnTo>
                    <a:pt x="0" y="847724"/>
                  </a:lnTo>
                  <a:lnTo>
                    <a:pt x="63" y="837321"/>
                  </a:lnTo>
                  <a:lnTo>
                    <a:pt x="1595" y="795741"/>
                  </a:lnTo>
                  <a:lnTo>
                    <a:pt x="5165" y="754285"/>
                  </a:lnTo>
                  <a:lnTo>
                    <a:pt x="10765" y="713056"/>
                  </a:lnTo>
                  <a:lnTo>
                    <a:pt x="18381" y="672150"/>
                  </a:lnTo>
                  <a:lnTo>
                    <a:pt x="27995" y="631668"/>
                  </a:lnTo>
                  <a:lnTo>
                    <a:pt x="39583" y="591706"/>
                  </a:lnTo>
                  <a:lnTo>
                    <a:pt x="53119" y="552360"/>
                  </a:lnTo>
                  <a:lnTo>
                    <a:pt x="68569" y="513727"/>
                  </a:lnTo>
                  <a:lnTo>
                    <a:pt x="85896" y="475898"/>
                  </a:lnTo>
                  <a:lnTo>
                    <a:pt x="105058" y="438965"/>
                  </a:lnTo>
                  <a:lnTo>
                    <a:pt x="126010" y="403016"/>
                  </a:lnTo>
                  <a:lnTo>
                    <a:pt x="148700" y="368139"/>
                  </a:lnTo>
                  <a:lnTo>
                    <a:pt x="173074" y="334417"/>
                  </a:lnTo>
                  <a:lnTo>
                    <a:pt x="199074" y="301932"/>
                  </a:lnTo>
                  <a:lnTo>
                    <a:pt x="226636" y="270761"/>
                  </a:lnTo>
                  <a:lnTo>
                    <a:pt x="255694" y="240981"/>
                  </a:lnTo>
                  <a:lnTo>
                    <a:pt x="286179" y="212662"/>
                  </a:lnTo>
                  <a:lnTo>
                    <a:pt x="318016" y="185873"/>
                  </a:lnTo>
                  <a:lnTo>
                    <a:pt x="351130" y="160679"/>
                  </a:lnTo>
                  <a:lnTo>
                    <a:pt x="385439" y="137140"/>
                  </a:lnTo>
                  <a:lnTo>
                    <a:pt x="420863" y="115313"/>
                  </a:lnTo>
                  <a:lnTo>
                    <a:pt x="457315" y="95250"/>
                  </a:lnTo>
                  <a:lnTo>
                    <a:pt x="494707" y="77000"/>
                  </a:lnTo>
                  <a:lnTo>
                    <a:pt x="532950" y="60606"/>
                  </a:lnTo>
                  <a:lnTo>
                    <a:pt x="571951" y="46109"/>
                  </a:lnTo>
                  <a:lnTo>
                    <a:pt x="611617" y="33543"/>
                  </a:lnTo>
                  <a:lnTo>
                    <a:pt x="651851" y="22939"/>
                  </a:lnTo>
                  <a:lnTo>
                    <a:pt x="692558" y="14321"/>
                  </a:lnTo>
                  <a:lnTo>
                    <a:pt x="733638" y="7711"/>
                  </a:lnTo>
                  <a:lnTo>
                    <a:pt x="774993" y="3125"/>
                  </a:lnTo>
                  <a:lnTo>
                    <a:pt x="816523" y="574"/>
                  </a:lnTo>
                  <a:lnTo>
                    <a:pt x="847724" y="0"/>
                  </a:lnTo>
                  <a:lnTo>
                    <a:pt x="858128" y="63"/>
                  </a:lnTo>
                  <a:lnTo>
                    <a:pt x="899708" y="1595"/>
                  </a:lnTo>
                  <a:lnTo>
                    <a:pt x="941163" y="5165"/>
                  </a:lnTo>
                  <a:lnTo>
                    <a:pt x="982393" y="10765"/>
                  </a:lnTo>
                  <a:lnTo>
                    <a:pt x="1023298" y="18381"/>
                  </a:lnTo>
                  <a:lnTo>
                    <a:pt x="1063781" y="27995"/>
                  </a:lnTo>
                  <a:lnTo>
                    <a:pt x="1103743" y="39583"/>
                  </a:lnTo>
                  <a:lnTo>
                    <a:pt x="1143088" y="53119"/>
                  </a:lnTo>
                  <a:lnTo>
                    <a:pt x="1181722" y="68569"/>
                  </a:lnTo>
                  <a:lnTo>
                    <a:pt x="1219551" y="85896"/>
                  </a:lnTo>
                  <a:lnTo>
                    <a:pt x="1256484" y="105058"/>
                  </a:lnTo>
                  <a:lnTo>
                    <a:pt x="1292433" y="126010"/>
                  </a:lnTo>
                  <a:lnTo>
                    <a:pt x="1327310" y="148700"/>
                  </a:lnTo>
                  <a:lnTo>
                    <a:pt x="1361032" y="173074"/>
                  </a:lnTo>
                  <a:lnTo>
                    <a:pt x="1393517" y="199074"/>
                  </a:lnTo>
                  <a:lnTo>
                    <a:pt x="1424687" y="226636"/>
                  </a:lnTo>
                  <a:lnTo>
                    <a:pt x="1454468" y="255694"/>
                  </a:lnTo>
                  <a:lnTo>
                    <a:pt x="1482787" y="286179"/>
                  </a:lnTo>
                  <a:lnTo>
                    <a:pt x="1509575" y="318016"/>
                  </a:lnTo>
                  <a:lnTo>
                    <a:pt x="1534770" y="351130"/>
                  </a:lnTo>
                  <a:lnTo>
                    <a:pt x="1558309" y="385439"/>
                  </a:lnTo>
                  <a:lnTo>
                    <a:pt x="1580136" y="420863"/>
                  </a:lnTo>
                  <a:lnTo>
                    <a:pt x="1600199" y="457315"/>
                  </a:lnTo>
                  <a:lnTo>
                    <a:pt x="1618449" y="494707"/>
                  </a:lnTo>
                  <a:lnTo>
                    <a:pt x="1634842" y="532950"/>
                  </a:lnTo>
                  <a:lnTo>
                    <a:pt x="1649340" y="571951"/>
                  </a:lnTo>
                  <a:lnTo>
                    <a:pt x="1661906" y="611617"/>
                  </a:lnTo>
                  <a:lnTo>
                    <a:pt x="1672510" y="651851"/>
                  </a:lnTo>
                  <a:lnTo>
                    <a:pt x="1681127" y="692558"/>
                  </a:lnTo>
                  <a:lnTo>
                    <a:pt x="1687737" y="733638"/>
                  </a:lnTo>
                  <a:lnTo>
                    <a:pt x="1692324" y="774993"/>
                  </a:lnTo>
                  <a:lnTo>
                    <a:pt x="1694875" y="816523"/>
                  </a:lnTo>
                  <a:lnTo>
                    <a:pt x="1695449" y="847724"/>
                  </a:lnTo>
                  <a:close/>
                </a:path>
              </a:pathLst>
            </a:custGeom>
            <a:ln w="19049">
              <a:solidFill>
                <a:srgbClr val="00D4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90987" y="457199"/>
              <a:ext cx="7644130" cy="971550"/>
            </a:xfrm>
            <a:custGeom>
              <a:avLst/>
              <a:gdLst/>
              <a:ahLst/>
              <a:cxnLst/>
              <a:rect l="l" t="t" r="r" b="b"/>
              <a:pathLst>
                <a:path w="7644130" h="971550">
                  <a:moveTo>
                    <a:pt x="7572615" y="971549"/>
                  </a:moveTo>
                  <a:lnTo>
                    <a:pt x="57847" y="971549"/>
                  </a:lnTo>
                  <a:lnTo>
                    <a:pt x="53821" y="971061"/>
                  </a:lnTo>
                  <a:lnTo>
                    <a:pt x="15259" y="945693"/>
                  </a:lnTo>
                  <a:lnTo>
                    <a:pt x="396" y="905308"/>
                  </a:lnTo>
                  <a:lnTo>
                    <a:pt x="0" y="900353"/>
                  </a:lnTo>
                  <a:lnTo>
                    <a:pt x="0" y="895349"/>
                  </a:lnTo>
                  <a:lnTo>
                    <a:pt x="0" y="71196"/>
                  </a:lnTo>
                  <a:lnTo>
                    <a:pt x="12692" y="29705"/>
                  </a:lnTo>
                  <a:lnTo>
                    <a:pt x="41975" y="3885"/>
                  </a:lnTo>
                  <a:lnTo>
                    <a:pt x="57847" y="0"/>
                  </a:lnTo>
                  <a:lnTo>
                    <a:pt x="7572615" y="0"/>
                  </a:lnTo>
                  <a:lnTo>
                    <a:pt x="7614105" y="15621"/>
                  </a:lnTo>
                  <a:lnTo>
                    <a:pt x="7639926" y="51662"/>
                  </a:lnTo>
                  <a:lnTo>
                    <a:pt x="7643811" y="71196"/>
                  </a:lnTo>
                  <a:lnTo>
                    <a:pt x="7643811" y="900353"/>
                  </a:lnTo>
                  <a:lnTo>
                    <a:pt x="7628190" y="941844"/>
                  </a:lnTo>
                  <a:lnTo>
                    <a:pt x="7592149" y="967664"/>
                  </a:lnTo>
                  <a:lnTo>
                    <a:pt x="7577570" y="971061"/>
                  </a:lnTo>
                  <a:lnTo>
                    <a:pt x="7572615" y="9715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76699" y="457577"/>
              <a:ext cx="69215" cy="970915"/>
            </a:xfrm>
            <a:custGeom>
              <a:avLst/>
              <a:gdLst/>
              <a:ahLst/>
              <a:cxnLst/>
              <a:rect l="l" t="t" r="r" b="b"/>
              <a:pathLst>
                <a:path w="69214" h="970915">
                  <a:moveTo>
                    <a:pt x="68698" y="970794"/>
                  </a:moveTo>
                  <a:lnTo>
                    <a:pt x="27882" y="953905"/>
                  </a:lnTo>
                  <a:lnTo>
                    <a:pt x="3262" y="917059"/>
                  </a:lnTo>
                  <a:lnTo>
                    <a:pt x="0" y="894972"/>
                  </a:lnTo>
                  <a:lnTo>
                    <a:pt x="0" y="75822"/>
                  </a:lnTo>
                  <a:lnTo>
                    <a:pt x="12830" y="33480"/>
                  </a:lnTo>
                  <a:lnTo>
                    <a:pt x="47039" y="5422"/>
                  </a:lnTo>
                  <a:lnTo>
                    <a:pt x="68698" y="0"/>
                  </a:lnTo>
                  <a:lnTo>
                    <a:pt x="63809" y="1555"/>
                  </a:lnTo>
                  <a:lnTo>
                    <a:pt x="52139" y="9289"/>
                  </a:lnTo>
                  <a:lnTo>
                    <a:pt x="32200" y="46661"/>
                  </a:lnTo>
                  <a:lnTo>
                    <a:pt x="28574" y="75822"/>
                  </a:lnTo>
                  <a:lnTo>
                    <a:pt x="28574" y="894972"/>
                  </a:lnTo>
                  <a:lnTo>
                    <a:pt x="36593" y="937314"/>
                  </a:lnTo>
                  <a:lnTo>
                    <a:pt x="63809" y="969238"/>
                  </a:lnTo>
                  <a:lnTo>
                    <a:pt x="68698" y="970794"/>
                  </a:lnTo>
                  <a:close/>
                </a:path>
              </a:pathLst>
            </a:custGeom>
            <a:solidFill>
              <a:srgbClr val="00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33874" y="714374"/>
              <a:ext cx="257175" cy="17145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30749" y="654050"/>
            <a:ext cx="33756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40" dirty="0"/>
              <a:t>Real-</a:t>
            </a:r>
            <a:r>
              <a:rPr sz="1500" spc="160" dirty="0"/>
              <a:t>time</a:t>
            </a:r>
            <a:r>
              <a:rPr sz="1500" spc="80" dirty="0"/>
              <a:t> </a:t>
            </a:r>
            <a:r>
              <a:rPr sz="1500" spc="150" dirty="0"/>
              <a:t>Detection</a:t>
            </a:r>
            <a:r>
              <a:rPr sz="1500" spc="80" dirty="0"/>
              <a:t> </a:t>
            </a:r>
            <a:r>
              <a:rPr sz="1500" spc="240" dirty="0"/>
              <a:t>&amp;</a:t>
            </a:r>
            <a:r>
              <a:rPr sz="1500" spc="80" dirty="0"/>
              <a:t> </a:t>
            </a:r>
            <a:r>
              <a:rPr sz="1500" spc="130" dirty="0"/>
              <a:t>Tracking</a:t>
            </a:r>
            <a:endParaRPr sz="1500"/>
          </a:p>
        </p:txBody>
      </p:sp>
      <p:sp>
        <p:nvSpPr>
          <p:cNvPr id="11" name="object 11"/>
          <p:cNvSpPr txBox="1"/>
          <p:nvPr/>
        </p:nvSpPr>
        <p:spPr>
          <a:xfrm>
            <a:off x="4730749" y="1006475"/>
            <a:ext cx="5379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Advanced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object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detection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tracking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system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operating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in </a:t>
            </a:r>
            <a:r>
              <a:rPr sz="12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real-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time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76699" y="1619249"/>
            <a:ext cx="7658100" cy="971550"/>
            <a:chOff x="4076699" y="1619249"/>
            <a:chExt cx="7658100" cy="971550"/>
          </a:xfrm>
        </p:grpSpPr>
        <p:sp>
          <p:nvSpPr>
            <p:cNvPr id="13" name="object 13"/>
            <p:cNvSpPr/>
            <p:nvPr/>
          </p:nvSpPr>
          <p:spPr>
            <a:xfrm>
              <a:off x="4090987" y="1619249"/>
              <a:ext cx="7644130" cy="971550"/>
            </a:xfrm>
            <a:custGeom>
              <a:avLst/>
              <a:gdLst/>
              <a:ahLst/>
              <a:cxnLst/>
              <a:rect l="l" t="t" r="r" b="b"/>
              <a:pathLst>
                <a:path w="7644130" h="971550">
                  <a:moveTo>
                    <a:pt x="7572615" y="971549"/>
                  </a:moveTo>
                  <a:lnTo>
                    <a:pt x="57847" y="971549"/>
                  </a:lnTo>
                  <a:lnTo>
                    <a:pt x="53821" y="971061"/>
                  </a:lnTo>
                  <a:lnTo>
                    <a:pt x="15259" y="945693"/>
                  </a:lnTo>
                  <a:lnTo>
                    <a:pt x="396" y="905308"/>
                  </a:lnTo>
                  <a:lnTo>
                    <a:pt x="0" y="900353"/>
                  </a:lnTo>
                  <a:lnTo>
                    <a:pt x="0" y="895349"/>
                  </a:lnTo>
                  <a:lnTo>
                    <a:pt x="0" y="71196"/>
                  </a:lnTo>
                  <a:lnTo>
                    <a:pt x="12692" y="29705"/>
                  </a:lnTo>
                  <a:lnTo>
                    <a:pt x="41975" y="3885"/>
                  </a:lnTo>
                  <a:lnTo>
                    <a:pt x="57847" y="0"/>
                  </a:lnTo>
                  <a:lnTo>
                    <a:pt x="7572615" y="0"/>
                  </a:lnTo>
                  <a:lnTo>
                    <a:pt x="7614105" y="15621"/>
                  </a:lnTo>
                  <a:lnTo>
                    <a:pt x="7639926" y="51662"/>
                  </a:lnTo>
                  <a:lnTo>
                    <a:pt x="7643811" y="71196"/>
                  </a:lnTo>
                  <a:lnTo>
                    <a:pt x="7643811" y="900353"/>
                  </a:lnTo>
                  <a:lnTo>
                    <a:pt x="7628190" y="941844"/>
                  </a:lnTo>
                  <a:lnTo>
                    <a:pt x="7592149" y="967664"/>
                  </a:lnTo>
                  <a:lnTo>
                    <a:pt x="7577570" y="971061"/>
                  </a:lnTo>
                  <a:lnTo>
                    <a:pt x="7572615" y="9715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76699" y="1619627"/>
              <a:ext cx="69215" cy="970915"/>
            </a:xfrm>
            <a:custGeom>
              <a:avLst/>
              <a:gdLst/>
              <a:ahLst/>
              <a:cxnLst/>
              <a:rect l="l" t="t" r="r" b="b"/>
              <a:pathLst>
                <a:path w="69214" h="970914">
                  <a:moveTo>
                    <a:pt x="68698" y="970794"/>
                  </a:moveTo>
                  <a:lnTo>
                    <a:pt x="27882" y="953905"/>
                  </a:lnTo>
                  <a:lnTo>
                    <a:pt x="3262" y="917058"/>
                  </a:lnTo>
                  <a:lnTo>
                    <a:pt x="0" y="894972"/>
                  </a:lnTo>
                  <a:lnTo>
                    <a:pt x="0" y="75822"/>
                  </a:lnTo>
                  <a:lnTo>
                    <a:pt x="12830" y="33480"/>
                  </a:lnTo>
                  <a:lnTo>
                    <a:pt x="47039" y="5422"/>
                  </a:lnTo>
                  <a:lnTo>
                    <a:pt x="68698" y="0"/>
                  </a:lnTo>
                  <a:lnTo>
                    <a:pt x="63809" y="1555"/>
                  </a:lnTo>
                  <a:lnTo>
                    <a:pt x="52139" y="9289"/>
                  </a:lnTo>
                  <a:lnTo>
                    <a:pt x="32200" y="46661"/>
                  </a:lnTo>
                  <a:lnTo>
                    <a:pt x="28574" y="75822"/>
                  </a:lnTo>
                  <a:lnTo>
                    <a:pt x="28574" y="894972"/>
                  </a:lnTo>
                  <a:lnTo>
                    <a:pt x="36593" y="937314"/>
                  </a:lnTo>
                  <a:lnTo>
                    <a:pt x="63809" y="969238"/>
                  </a:lnTo>
                  <a:lnTo>
                    <a:pt x="68698" y="970794"/>
                  </a:lnTo>
                  <a:close/>
                </a:path>
              </a:pathLst>
            </a:custGeom>
            <a:solidFill>
              <a:srgbClr val="00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6574" y="1844674"/>
              <a:ext cx="231775" cy="2349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30749" y="1816100"/>
            <a:ext cx="5474970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25" dirty="0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sz="1500" b="1" spc="145" dirty="0">
                <a:solidFill>
                  <a:srgbClr val="FFFFFF"/>
                </a:solidFill>
                <a:latin typeface="Trebuchet MS"/>
                <a:cs typeface="Trebuchet MS"/>
              </a:rPr>
              <a:t>Object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24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sz="1500" b="1" spc="185" dirty="0">
                <a:solidFill>
                  <a:srgbClr val="FFFFFF"/>
                </a:solidFill>
                <a:latin typeface="Trebuchet MS"/>
                <a:cs typeface="Trebuchet MS"/>
              </a:rPr>
              <a:t>Camera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70" dirty="0">
                <a:solidFill>
                  <a:srgbClr val="FFFFFF"/>
                </a:solidFill>
                <a:latin typeface="Trebuchet MS"/>
                <a:cs typeface="Trebuchet MS"/>
              </a:rPr>
              <a:t>Support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Simultaneously</a:t>
            </a:r>
            <a:r>
              <a:rPr sz="1200" spc="114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tracks</a:t>
            </a:r>
            <a:r>
              <a:rPr sz="1200" spc="114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multiple</a:t>
            </a:r>
            <a:r>
              <a:rPr sz="1200" spc="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objects</a:t>
            </a:r>
            <a:r>
              <a:rPr sz="1200" spc="114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A0AEBF"/>
                </a:solidFill>
                <a:latin typeface="Microsoft Sans Serif"/>
                <a:cs typeface="Microsoft Sans Serif"/>
              </a:rPr>
              <a:t>across</a:t>
            </a:r>
            <a:r>
              <a:rPr sz="1200" spc="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multiple</a:t>
            </a:r>
            <a:r>
              <a:rPr sz="1200" spc="114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200" spc="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streams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76699" y="2781299"/>
            <a:ext cx="7658100" cy="971550"/>
            <a:chOff x="4076699" y="2781299"/>
            <a:chExt cx="7658100" cy="971550"/>
          </a:xfrm>
        </p:grpSpPr>
        <p:sp>
          <p:nvSpPr>
            <p:cNvPr id="18" name="object 18"/>
            <p:cNvSpPr/>
            <p:nvPr/>
          </p:nvSpPr>
          <p:spPr>
            <a:xfrm>
              <a:off x="4090987" y="2781299"/>
              <a:ext cx="7644130" cy="971550"/>
            </a:xfrm>
            <a:custGeom>
              <a:avLst/>
              <a:gdLst/>
              <a:ahLst/>
              <a:cxnLst/>
              <a:rect l="l" t="t" r="r" b="b"/>
              <a:pathLst>
                <a:path w="7644130" h="971550">
                  <a:moveTo>
                    <a:pt x="7572615" y="971549"/>
                  </a:moveTo>
                  <a:lnTo>
                    <a:pt x="57847" y="971549"/>
                  </a:lnTo>
                  <a:lnTo>
                    <a:pt x="53821" y="971061"/>
                  </a:lnTo>
                  <a:lnTo>
                    <a:pt x="15259" y="945693"/>
                  </a:lnTo>
                  <a:lnTo>
                    <a:pt x="396" y="905308"/>
                  </a:lnTo>
                  <a:lnTo>
                    <a:pt x="0" y="900353"/>
                  </a:lnTo>
                  <a:lnTo>
                    <a:pt x="0" y="895349"/>
                  </a:lnTo>
                  <a:lnTo>
                    <a:pt x="0" y="71196"/>
                  </a:lnTo>
                  <a:lnTo>
                    <a:pt x="12692" y="29705"/>
                  </a:lnTo>
                  <a:lnTo>
                    <a:pt x="41975" y="3885"/>
                  </a:lnTo>
                  <a:lnTo>
                    <a:pt x="57847" y="0"/>
                  </a:lnTo>
                  <a:lnTo>
                    <a:pt x="7572615" y="0"/>
                  </a:lnTo>
                  <a:lnTo>
                    <a:pt x="7614105" y="15621"/>
                  </a:lnTo>
                  <a:lnTo>
                    <a:pt x="7639926" y="51662"/>
                  </a:lnTo>
                  <a:lnTo>
                    <a:pt x="7643811" y="71196"/>
                  </a:lnTo>
                  <a:lnTo>
                    <a:pt x="7643811" y="900353"/>
                  </a:lnTo>
                  <a:lnTo>
                    <a:pt x="7628190" y="941844"/>
                  </a:lnTo>
                  <a:lnTo>
                    <a:pt x="7592149" y="967664"/>
                  </a:lnTo>
                  <a:lnTo>
                    <a:pt x="7577570" y="971061"/>
                  </a:lnTo>
                  <a:lnTo>
                    <a:pt x="7572615" y="9715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76699" y="2781677"/>
              <a:ext cx="69215" cy="970915"/>
            </a:xfrm>
            <a:custGeom>
              <a:avLst/>
              <a:gdLst/>
              <a:ahLst/>
              <a:cxnLst/>
              <a:rect l="l" t="t" r="r" b="b"/>
              <a:pathLst>
                <a:path w="69214" h="970914">
                  <a:moveTo>
                    <a:pt x="68698" y="970794"/>
                  </a:moveTo>
                  <a:lnTo>
                    <a:pt x="27882" y="953905"/>
                  </a:lnTo>
                  <a:lnTo>
                    <a:pt x="3262" y="917059"/>
                  </a:lnTo>
                  <a:lnTo>
                    <a:pt x="0" y="894972"/>
                  </a:lnTo>
                  <a:lnTo>
                    <a:pt x="0" y="75822"/>
                  </a:lnTo>
                  <a:lnTo>
                    <a:pt x="12830" y="33480"/>
                  </a:lnTo>
                  <a:lnTo>
                    <a:pt x="47039" y="5422"/>
                  </a:lnTo>
                  <a:lnTo>
                    <a:pt x="68698" y="0"/>
                  </a:lnTo>
                  <a:lnTo>
                    <a:pt x="63809" y="1555"/>
                  </a:lnTo>
                  <a:lnTo>
                    <a:pt x="52139" y="9289"/>
                  </a:lnTo>
                  <a:lnTo>
                    <a:pt x="32200" y="46661"/>
                  </a:lnTo>
                  <a:lnTo>
                    <a:pt x="28574" y="75822"/>
                  </a:lnTo>
                  <a:lnTo>
                    <a:pt x="28574" y="894972"/>
                  </a:lnTo>
                  <a:lnTo>
                    <a:pt x="36593" y="937314"/>
                  </a:lnTo>
                  <a:lnTo>
                    <a:pt x="63809" y="969238"/>
                  </a:lnTo>
                  <a:lnTo>
                    <a:pt x="68698" y="970794"/>
                  </a:lnTo>
                  <a:close/>
                </a:path>
              </a:pathLst>
            </a:custGeom>
            <a:solidFill>
              <a:srgbClr val="00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73575" y="2978150"/>
            <a:ext cx="4948555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30" dirty="0">
                <a:solidFill>
                  <a:srgbClr val="FFFFFF"/>
                </a:solidFill>
                <a:latin typeface="Trebuchet MS"/>
                <a:cs typeface="Trebuchet MS"/>
              </a:rPr>
              <a:t>Aerial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60" dirty="0">
                <a:solidFill>
                  <a:srgbClr val="FFFFFF"/>
                </a:solidFill>
                <a:latin typeface="Trebuchet MS"/>
                <a:cs typeface="Trebuchet MS"/>
              </a:rPr>
              <a:t>Robotics</a:t>
            </a:r>
            <a:r>
              <a:rPr sz="1500" b="1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85" dirty="0">
                <a:solidFill>
                  <a:srgbClr val="FFFFFF"/>
                </a:solidFill>
                <a:latin typeface="Trebuchet MS"/>
                <a:cs typeface="Trebuchet MS"/>
              </a:rPr>
              <a:t>Ready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Designed</a:t>
            </a:r>
            <a:r>
              <a:rPr sz="12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for 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drone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follow-</a:t>
            </a:r>
            <a:r>
              <a:rPr sz="1200" spc="114" dirty="0">
                <a:solidFill>
                  <a:srgbClr val="A0AEBF"/>
                </a:solidFill>
                <a:latin typeface="Microsoft Sans Serif"/>
                <a:cs typeface="Microsoft Sans Serif"/>
              </a:rPr>
              <a:t>me</a:t>
            </a:r>
            <a:r>
              <a:rPr sz="12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systems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robot</a:t>
            </a:r>
            <a:r>
              <a:rPr sz="12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vision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50" dirty="0">
                <a:solidFill>
                  <a:srgbClr val="A0AEBF"/>
                </a:solidFill>
                <a:latin typeface="Microsoft Sans Serif"/>
                <a:cs typeface="Microsoft Sans Serif"/>
              </a:rPr>
              <a:t>research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076699" y="3943350"/>
            <a:ext cx="7658100" cy="971550"/>
            <a:chOff x="4076699" y="3943350"/>
            <a:chExt cx="7658100" cy="971550"/>
          </a:xfrm>
        </p:grpSpPr>
        <p:sp>
          <p:nvSpPr>
            <p:cNvPr id="22" name="object 22"/>
            <p:cNvSpPr/>
            <p:nvPr/>
          </p:nvSpPr>
          <p:spPr>
            <a:xfrm>
              <a:off x="4090987" y="3943350"/>
              <a:ext cx="7644130" cy="971550"/>
            </a:xfrm>
            <a:custGeom>
              <a:avLst/>
              <a:gdLst/>
              <a:ahLst/>
              <a:cxnLst/>
              <a:rect l="l" t="t" r="r" b="b"/>
              <a:pathLst>
                <a:path w="7644130" h="971550">
                  <a:moveTo>
                    <a:pt x="7572615" y="971549"/>
                  </a:moveTo>
                  <a:lnTo>
                    <a:pt x="57847" y="971549"/>
                  </a:lnTo>
                  <a:lnTo>
                    <a:pt x="53821" y="971061"/>
                  </a:lnTo>
                  <a:lnTo>
                    <a:pt x="15259" y="945693"/>
                  </a:lnTo>
                  <a:lnTo>
                    <a:pt x="396" y="905308"/>
                  </a:lnTo>
                  <a:lnTo>
                    <a:pt x="0" y="900353"/>
                  </a:lnTo>
                  <a:lnTo>
                    <a:pt x="0" y="895349"/>
                  </a:lnTo>
                  <a:lnTo>
                    <a:pt x="0" y="71196"/>
                  </a:lnTo>
                  <a:lnTo>
                    <a:pt x="12692" y="29705"/>
                  </a:lnTo>
                  <a:lnTo>
                    <a:pt x="41975" y="3885"/>
                  </a:lnTo>
                  <a:lnTo>
                    <a:pt x="57847" y="0"/>
                  </a:lnTo>
                  <a:lnTo>
                    <a:pt x="7572615" y="0"/>
                  </a:lnTo>
                  <a:lnTo>
                    <a:pt x="7614105" y="15621"/>
                  </a:lnTo>
                  <a:lnTo>
                    <a:pt x="7639926" y="51662"/>
                  </a:lnTo>
                  <a:lnTo>
                    <a:pt x="7643811" y="71196"/>
                  </a:lnTo>
                  <a:lnTo>
                    <a:pt x="7643811" y="900353"/>
                  </a:lnTo>
                  <a:lnTo>
                    <a:pt x="7628190" y="941844"/>
                  </a:lnTo>
                  <a:lnTo>
                    <a:pt x="7592149" y="967664"/>
                  </a:lnTo>
                  <a:lnTo>
                    <a:pt x="7577570" y="971061"/>
                  </a:lnTo>
                  <a:lnTo>
                    <a:pt x="7572615" y="9715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76699" y="3943727"/>
              <a:ext cx="69215" cy="970915"/>
            </a:xfrm>
            <a:custGeom>
              <a:avLst/>
              <a:gdLst/>
              <a:ahLst/>
              <a:cxnLst/>
              <a:rect l="l" t="t" r="r" b="b"/>
              <a:pathLst>
                <a:path w="69214" h="970914">
                  <a:moveTo>
                    <a:pt x="68698" y="970794"/>
                  </a:moveTo>
                  <a:lnTo>
                    <a:pt x="27882" y="953905"/>
                  </a:lnTo>
                  <a:lnTo>
                    <a:pt x="3262" y="917059"/>
                  </a:lnTo>
                  <a:lnTo>
                    <a:pt x="0" y="894972"/>
                  </a:lnTo>
                  <a:lnTo>
                    <a:pt x="0" y="75822"/>
                  </a:lnTo>
                  <a:lnTo>
                    <a:pt x="12830" y="33480"/>
                  </a:lnTo>
                  <a:lnTo>
                    <a:pt x="47039" y="5422"/>
                  </a:lnTo>
                  <a:lnTo>
                    <a:pt x="68698" y="0"/>
                  </a:lnTo>
                  <a:lnTo>
                    <a:pt x="63809" y="1555"/>
                  </a:lnTo>
                  <a:lnTo>
                    <a:pt x="52139" y="9289"/>
                  </a:lnTo>
                  <a:lnTo>
                    <a:pt x="32200" y="46661"/>
                  </a:lnTo>
                  <a:lnTo>
                    <a:pt x="28574" y="75822"/>
                  </a:lnTo>
                  <a:lnTo>
                    <a:pt x="28574" y="894972"/>
                  </a:lnTo>
                  <a:lnTo>
                    <a:pt x="36593" y="937314"/>
                  </a:lnTo>
                  <a:lnTo>
                    <a:pt x="63809" y="969238"/>
                  </a:lnTo>
                  <a:lnTo>
                    <a:pt x="68698" y="970794"/>
                  </a:lnTo>
                  <a:close/>
                </a:path>
              </a:pathLst>
            </a:custGeom>
            <a:solidFill>
              <a:srgbClr val="00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40224" y="4181474"/>
              <a:ext cx="215900" cy="2095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02174" y="4140200"/>
            <a:ext cx="4704080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Intelligent</a:t>
            </a:r>
            <a:r>
              <a:rPr sz="1500" b="1" spc="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50" dirty="0">
                <a:solidFill>
                  <a:srgbClr val="FFFFFF"/>
                </a:solidFill>
                <a:latin typeface="Trebuchet MS"/>
                <a:cs typeface="Trebuchet MS"/>
              </a:rPr>
              <a:t>Recovery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Auto-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recenter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auto-</a:t>
            </a:r>
            <a:r>
              <a:rPr sz="12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relock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capabilities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for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robust</a:t>
            </a:r>
            <a:r>
              <a:rPr sz="12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tracking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76699" y="5105399"/>
            <a:ext cx="7658100" cy="971550"/>
            <a:chOff x="4076699" y="5105399"/>
            <a:chExt cx="7658100" cy="971550"/>
          </a:xfrm>
        </p:grpSpPr>
        <p:sp>
          <p:nvSpPr>
            <p:cNvPr id="27" name="object 27"/>
            <p:cNvSpPr/>
            <p:nvPr/>
          </p:nvSpPr>
          <p:spPr>
            <a:xfrm>
              <a:off x="4090987" y="5105399"/>
              <a:ext cx="7644130" cy="971550"/>
            </a:xfrm>
            <a:custGeom>
              <a:avLst/>
              <a:gdLst/>
              <a:ahLst/>
              <a:cxnLst/>
              <a:rect l="l" t="t" r="r" b="b"/>
              <a:pathLst>
                <a:path w="7644130" h="971550">
                  <a:moveTo>
                    <a:pt x="7572615" y="971549"/>
                  </a:moveTo>
                  <a:lnTo>
                    <a:pt x="57847" y="971549"/>
                  </a:lnTo>
                  <a:lnTo>
                    <a:pt x="53821" y="971061"/>
                  </a:lnTo>
                  <a:lnTo>
                    <a:pt x="15259" y="945693"/>
                  </a:lnTo>
                  <a:lnTo>
                    <a:pt x="396" y="905308"/>
                  </a:lnTo>
                  <a:lnTo>
                    <a:pt x="0" y="900353"/>
                  </a:lnTo>
                  <a:lnTo>
                    <a:pt x="0" y="895349"/>
                  </a:lnTo>
                  <a:lnTo>
                    <a:pt x="0" y="71196"/>
                  </a:lnTo>
                  <a:lnTo>
                    <a:pt x="12692" y="29705"/>
                  </a:lnTo>
                  <a:lnTo>
                    <a:pt x="41975" y="3885"/>
                  </a:lnTo>
                  <a:lnTo>
                    <a:pt x="57847" y="0"/>
                  </a:lnTo>
                  <a:lnTo>
                    <a:pt x="7572615" y="0"/>
                  </a:lnTo>
                  <a:lnTo>
                    <a:pt x="7614105" y="15621"/>
                  </a:lnTo>
                  <a:lnTo>
                    <a:pt x="7639926" y="51662"/>
                  </a:lnTo>
                  <a:lnTo>
                    <a:pt x="7643811" y="71196"/>
                  </a:lnTo>
                  <a:lnTo>
                    <a:pt x="7643811" y="900353"/>
                  </a:lnTo>
                  <a:lnTo>
                    <a:pt x="7628190" y="941844"/>
                  </a:lnTo>
                  <a:lnTo>
                    <a:pt x="7592149" y="967664"/>
                  </a:lnTo>
                  <a:lnTo>
                    <a:pt x="7577570" y="971061"/>
                  </a:lnTo>
                  <a:lnTo>
                    <a:pt x="7572615" y="9715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76699" y="5105777"/>
              <a:ext cx="69215" cy="970915"/>
            </a:xfrm>
            <a:custGeom>
              <a:avLst/>
              <a:gdLst/>
              <a:ahLst/>
              <a:cxnLst/>
              <a:rect l="l" t="t" r="r" b="b"/>
              <a:pathLst>
                <a:path w="69214" h="970914">
                  <a:moveTo>
                    <a:pt x="68698" y="970794"/>
                  </a:moveTo>
                  <a:lnTo>
                    <a:pt x="27882" y="953905"/>
                  </a:lnTo>
                  <a:lnTo>
                    <a:pt x="3262" y="917059"/>
                  </a:lnTo>
                  <a:lnTo>
                    <a:pt x="0" y="894972"/>
                  </a:lnTo>
                  <a:lnTo>
                    <a:pt x="0" y="75822"/>
                  </a:lnTo>
                  <a:lnTo>
                    <a:pt x="12830" y="33480"/>
                  </a:lnTo>
                  <a:lnTo>
                    <a:pt x="47039" y="5422"/>
                  </a:lnTo>
                  <a:lnTo>
                    <a:pt x="68698" y="0"/>
                  </a:lnTo>
                  <a:lnTo>
                    <a:pt x="63809" y="1555"/>
                  </a:lnTo>
                  <a:lnTo>
                    <a:pt x="52139" y="9289"/>
                  </a:lnTo>
                  <a:lnTo>
                    <a:pt x="32200" y="46661"/>
                  </a:lnTo>
                  <a:lnTo>
                    <a:pt x="28574" y="75822"/>
                  </a:lnTo>
                  <a:lnTo>
                    <a:pt x="28574" y="894972"/>
                  </a:lnTo>
                  <a:lnTo>
                    <a:pt x="36593" y="937314"/>
                  </a:lnTo>
                  <a:lnTo>
                    <a:pt x="63809" y="969238"/>
                  </a:lnTo>
                  <a:lnTo>
                    <a:pt x="68698" y="970794"/>
                  </a:lnTo>
                  <a:close/>
                </a:path>
              </a:pathLst>
            </a:custGeom>
            <a:solidFill>
              <a:srgbClr val="00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3874" y="5346699"/>
              <a:ext cx="228600" cy="2032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4702174" y="5302250"/>
            <a:ext cx="5092065" cy="560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165" dirty="0">
                <a:solidFill>
                  <a:srgbClr val="FFFFFF"/>
                </a:solidFill>
                <a:latin typeface="Trebuchet MS"/>
                <a:cs typeface="Trebuchet MS"/>
              </a:rPr>
              <a:t>Comprehensive</a:t>
            </a:r>
            <a:r>
              <a:rPr sz="15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b="1" spc="140" dirty="0">
                <a:solidFill>
                  <a:srgbClr val="FFFFFF"/>
                </a:solidFill>
                <a:latin typeface="Trebuchet MS"/>
                <a:cs typeface="Trebuchet MS"/>
              </a:rPr>
              <a:t>Analytics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Distance,</a:t>
            </a:r>
            <a:r>
              <a:rPr sz="12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velocity,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angle</a:t>
            </a:r>
            <a:r>
              <a:rPr sz="12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measurements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with</a:t>
            </a:r>
            <a:r>
              <a:rPr sz="12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A0AEBF"/>
                </a:solidFill>
                <a:latin typeface="Microsoft Sans Serif"/>
                <a:cs typeface="Microsoft Sans Serif"/>
              </a:rPr>
              <a:t>CSV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logs </a:t>
            </a:r>
            <a:r>
              <a:rPr sz="12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2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 graphs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99" y="1171574"/>
              <a:ext cx="761999" cy="380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190" dirty="0"/>
              <a:t>Technical</a:t>
            </a:r>
            <a:r>
              <a:rPr sz="3150" spc="90" dirty="0"/>
              <a:t> </a:t>
            </a:r>
            <a:r>
              <a:rPr sz="3150" spc="225" dirty="0"/>
              <a:t>Architecture</a:t>
            </a:r>
            <a:endParaRPr sz="3150"/>
          </a:p>
        </p:txBody>
      </p:sp>
      <p:grpSp>
        <p:nvGrpSpPr>
          <p:cNvPr id="6" name="object 6"/>
          <p:cNvGrpSpPr/>
          <p:nvPr/>
        </p:nvGrpSpPr>
        <p:grpSpPr>
          <a:xfrm>
            <a:off x="457199" y="1685924"/>
            <a:ext cx="3629025" cy="1047750"/>
            <a:chOff x="457199" y="1685924"/>
            <a:chExt cx="3629025" cy="1047750"/>
          </a:xfrm>
        </p:grpSpPr>
        <p:sp>
          <p:nvSpPr>
            <p:cNvPr id="7" name="object 7"/>
            <p:cNvSpPr/>
            <p:nvPr/>
          </p:nvSpPr>
          <p:spPr>
            <a:xfrm>
              <a:off x="457199" y="1685924"/>
              <a:ext cx="3629025" cy="1047750"/>
            </a:xfrm>
            <a:custGeom>
              <a:avLst/>
              <a:gdLst/>
              <a:ahLst/>
              <a:cxnLst/>
              <a:rect l="l" t="t" r="r" b="b"/>
              <a:pathLst>
                <a:path w="3629025" h="1047750">
                  <a:moveTo>
                    <a:pt x="3514724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7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4" y="8700"/>
                  </a:lnTo>
                  <a:lnTo>
                    <a:pt x="3595546" y="33477"/>
                  </a:lnTo>
                  <a:lnTo>
                    <a:pt x="3620323" y="70559"/>
                  </a:lnTo>
                  <a:lnTo>
                    <a:pt x="3629024" y="114299"/>
                  </a:lnTo>
                  <a:lnTo>
                    <a:pt x="3629024" y="933449"/>
                  </a:lnTo>
                  <a:lnTo>
                    <a:pt x="3620323" y="977190"/>
                  </a:lnTo>
                  <a:lnTo>
                    <a:pt x="3595546" y="1014272"/>
                  </a:lnTo>
                  <a:lnTo>
                    <a:pt x="3558464" y="1039049"/>
                  </a:lnTo>
                  <a:lnTo>
                    <a:pt x="3514724" y="10477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199" y="1685924"/>
              <a:ext cx="3629025" cy="1047750"/>
            </a:xfrm>
            <a:custGeom>
              <a:avLst/>
              <a:gdLst/>
              <a:ahLst/>
              <a:cxnLst/>
              <a:rect l="l" t="t" r="r" b="b"/>
              <a:pathLst>
                <a:path w="3629025" h="1047750">
                  <a:moveTo>
                    <a:pt x="3514724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8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25984" y="543"/>
                  </a:lnTo>
                  <a:lnTo>
                    <a:pt x="3568659" y="13511"/>
                  </a:lnTo>
                  <a:lnTo>
                    <a:pt x="35779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39704"/>
                  </a:lnTo>
                  <a:lnTo>
                    <a:pt x="31627" y="981167"/>
                  </a:lnTo>
                  <a:lnTo>
                    <a:pt x="66582" y="1016121"/>
                  </a:lnTo>
                  <a:lnTo>
                    <a:pt x="108045" y="1028699"/>
                  </a:lnTo>
                  <a:lnTo>
                    <a:pt x="3577911" y="1028699"/>
                  </a:lnTo>
                  <a:lnTo>
                    <a:pt x="3568659" y="1034238"/>
                  </a:lnTo>
                  <a:lnTo>
                    <a:pt x="3558465" y="1039049"/>
                  </a:lnTo>
                  <a:lnTo>
                    <a:pt x="3547854" y="1042855"/>
                  </a:lnTo>
                  <a:lnTo>
                    <a:pt x="3537027" y="1045574"/>
                  </a:lnTo>
                  <a:lnTo>
                    <a:pt x="3525984" y="1047206"/>
                  </a:lnTo>
                  <a:lnTo>
                    <a:pt x="3514724" y="1047749"/>
                  </a:lnTo>
                  <a:close/>
                </a:path>
                <a:path w="3629025" h="1047750">
                  <a:moveTo>
                    <a:pt x="3577911" y="1028699"/>
                  </a:moveTo>
                  <a:lnTo>
                    <a:pt x="3520978" y="1028699"/>
                  </a:lnTo>
                  <a:lnTo>
                    <a:pt x="3527172" y="1028089"/>
                  </a:lnTo>
                  <a:lnTo>
                    <a:pt x="3539440" y="1025649"/>
                  </a:lnTo>
                  <a:lnTo>
                    <a:pt x="3577653" y="1005224"/>
                  </a:lnTo>
                  <a:lnTo>
                    <a:pt x="3605116" y="964122"/>
                  </a:lnTo>
                  <a:lnTo>
                    <a:pt x="3609974" y="939704"/>
                  </a:lnTo>
                  <a:lnTo>
                    <a:pt x="3609974" y="108045"/>
                  </a:lnTo>
                  <a:lnTo>
                    <a:pt x="3609481" y="103040"/>
                  </a:lnTo>
                  <a:lnTo>
                    <a:pt x="3609364" y="101851"/>
                  </a:lnTo>
                  <a:lnTo>
                    <a:pt x="3590447" y="56181"/>
                  </a:lnTo>
                  <a:lnTo>
                    <a:pt x="3556952" y="28693"/>
                  </a:lnTo>
                  <a:lnTo>
                    <a:pt x="3520978" y="19049"/>
                  </a:lnTo>
                  <a:lnTo>
                    <a:pt x="3577911" y="19049"/>
                  </a:lnTo>
                  <a:lnTo>
                    <a:pt x="3609779" y="50786"/>
                  </a:lnTo>
                  <a:lnTo>
                    <a:pt x="3626849" y="91996"/>
                  </a:lnTo>
                  <a:lnTo>
                    <a:pt x="3629024" y="933449"/>
                  </a:lnTo>
                  <a:lnTo>
                    <a:pt x="3628480" y="944709"/>
                  </a:lnTo>
                  <a:lnTo>
                    <a:pt x="3615512" y="987385"/>
                  </a:lnTo>
                  <a:lnTo>
                    <a:pt x="3587200" y="1021849"/>
                  </a:lnTo>
                  <a:lnTo>
                    <a:pt x="3578237" y="1028504"/>
                  </a:lnTo>
                  <a:lnTo>
                    <a:pt x="3577911" y="1028699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1750" y="1933574"/>
              <a:ext cx="342900" cy="2286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383010" y="2292350"/>
            <a:ext cx="17805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sz="1200" b="1" spc="145" dirty="0">
                <a:solidFill>
                  <a:srgbClr val="FFFFFF"/>
                </a:solidFill>
                <a:latin typeface="Trebuchet MS"/>
                <a:cs typeface="Trebuchet MS"/>
              </a:rPr>
              <a:t>Camera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25" dirty="0">
                <a:solidFill>
                  <a:srgbClr val="FFFFFF"/>
                </a:solidFill>
                <a:latin typeface="Trebuchet MS"/>
                <a:cs typeface="Trebuchet MS"/>
              </a:rPr>
              <a:t>Inputs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76724" y="1685924"/>
            <a:ext cx="3638550" cy="1047750"/>
            <a:chOff x="4276724" y="1685924"/>
            <a:chExt cx="3638550" cy="1047750"/>
          </a:xfrm>
        </p:grpSpPr>
        <p:sp>
          <p:nvSpPr>
            <p:cNvPr id="12" name="object 12"/>
            <p:cNvSpPr/>
            <p:nvPr/>
          </p:nvSpPr>
          <p:spPr>
            <a:xfrm>
              <a:off x="4276724" y="1685924"/>
              <a:ext cx="3638550" cy="1047750"/>
            </a:xfrm>
            <a:custGeom>
              <a:avLst/>
              <a:gdLst/>
              <a:ahLst/>
              <a:cxnLst/>
              <a:rect l="l" t="t" r="r" b="b"/>
              <a:pathLst>
                <a:path w="3638550" h="1047750">
                  <a:moveTo>
                    <a:pt x="3524249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7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24249" y="0"/>
                  </a:lnTo>
                  <a:lnTo>
                    <a:pt x="3567989" y="8700"/>
                  </a:lnTo>
                  <a:lnTo>
                    <a:pt x="3605071" y="33477"/>
                  </a:lnTo>
                  <a:lnTo>
                    <a:pt x="3629848" y="70559"/>
                  </a:lnTo>
                  <a:lnTo>
                    <a:pt x="3638549" y="114299"/>
                  </a:lnTo>
                  <a:lnTo>
                    <a:pt x="3638549" y="933449"/>
                  </a:lnTo>
                  <a:lnTo>
                    <a:pt x="3629848" y="977190"/>
                  </a:lnTo>
                  <a:lnTo>
                    <a:pt x="3605071" y="1014272"/>
                  </a:lnTo>
                  <a:lnTo>
                    <a:pt x="3567989" y="1039049"/>
                  </a:lnTo>
                  <a:lnTo>
                    <a:pt x="3524249" y="10477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76724" y="1685924"/>
              <a:ext cx="3638550" cy="1047750"/>
            </a:xfrm>
            <a:custGeom>
              <a:avLst/>
              <a:gdLst/>
              <a:ahLst/>
              <a:cxnLst/>
              <a:rect l="l" t="t" r="r" b="b"/>
              <a:pathLst>
                <a:path w="3638550" h="1047750">
                  <a:moveTo>
                    <a:pt x="3524249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8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24249" y="0"/>
                  </a:lnTo>
                  <a:lnTo>
                    <a:pt x="3535509" y="543"/>
                  </a:lnTo>
                  <a:lnTo>
                    <a:pt x="3578184" y="13511"/>
                  </a:lnTo>
                  <a:lnTo>
                    <a:pt x="358743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39704"/>
                  </a:lnTo>
                  <a:lnTo>
                    <a:pt x="31627" y="981167"/>
                  </a:lnTo>
                  <a:lnTo>
                    <a:pt x="66582" y="1016121"/>
                  </a:lnTo>
                  <a:lnTo>
                    <a:pt x="108045" y="1028699"/>
                  </a:lnTo>
                  <a:lnTo>
                    <a:pt x="3587436" y="1028699"/>
                  </a:lnTo>
                  <a:lnTo>
                    <a:pt x="3578184" y="1034238"/>
                  </a:lnTo>
                  <a:lnTo>
                    <a:pt x="3567990" y="1039049"/>
                  </a:lnTo>
                  <a:lnTo>
                    <a:pt x="3557379" y="1042855"/>
                  </a:lnTo>
                  <a:lnTo>
                    <a:pt x="3546552" y="1045574"/>
                  </a:lnTo>
                  <a:lnTo>
                    <a:pt x="3535509" y="1047206"/>
                  </a:lnTo>
                  <a:lnTo>
                    <a:pt x="3524249" y="1047749"/>
                  </a:lnTo>
                  <a:close/>
                </a:path>
                <a:path w="3638550" h="1047750">
                  <a:moveTo>
                    <a:pt x="3587436" y="1028699"/>
                  </a:moveTo>
                  <a:lnTo>
                    <a:pt x="3530503" y="1028699"/>
                  </a:lnTo>
                  <a:lnTo>
                    <a:pt x="3536697" y="1028089"/>
                  </a:lnTo>
                  <a:lnTo>
                    <a:pt x="3548965" y="1025649"/>
                  </a:lnTo>
                  <a:lnTo>
                    <a:pt x="3587178" y="1005224"/>
                  </a:lnTo>
                  <a:lnTo>
                    <a:pt x="3614642" y="964122"/>
                  </a:lnTo>
                  <a:lnTo>
                    <a:pt x="3619499" y="939704"/>
                  </a:lnTo>
                  <a:lnTo>
                    <a:pt x="3619499" y="108045"/>
                  </a:lnTo>
                  <a:lnTo>
                    <a:pt x="3606921" y="66582"/>
                  </a:lnTo>
                  <a:lnTo>
                    <a:pt x="3571967" y="31627"/>
                  </a:lnTo>
                  <a:lnTo>
                    <a:pt x="3530503" y="19049"/>
                  </a:lnTo>
                  <a:lnTo>
                    <a:pt x="3587436" y="19049"/>
                  </a:lnTo>
                  <a:lnTo>
                    <a:pt x="3619304" y="50786"/>
                  </a:lnTo>
                  <a:lnTo>
                    <a:pt x="3636374" y="91996"/>
                  </a:lnTo>
                  <a:lnTo>
                    <a:pt x="3638549" y="933449"/>
                  </a:lnTo>
                  <a:lnTo>
                    <a:pt x="3638005" y="944709"/>
                  </a:lnTo>
                  <a:lnTo>
                    <a:pt x="3625037" y="987385"/>
                  </a:lnTo>
                  <a:lnTo>
                    <a:pt x="3596725" y="1021849"/>
                  </a:lnTo>
                  <a:lnTo>
                    <a:pt x="3587762" y="1028504"/>
                  </a:lnTo>
                  <a:lnTo>
                    <a:pt x="3587436" y="1028699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43450" y="1895474"/>
              <a:ext cx="304800" cy="3048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08798" y="2292350"/>
            <a:ext cx="1574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20" dirty="0">
                <a:solidFill>
                  <a:srgbClr val="FFFFFF"/>
                </a:solidFill>
                <a:latin typeface="Trebuchet MS"/>
                <a:cs typeface="Trebuchet MS"/>
              </a:rPr>
              <a:t>YOLOv8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Detection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105774" y="1685924"/>
            <a:ext cx="3629025" cy="1047750"/>
            <a:chOff x="8105774" y="1685924"/>
            <a:chExt cx="3629025" cy="1047750"/>
          </a:xfrm>
        </p:grpSpPr>
        <p:sp>
          <p:nvSpPr>
            <p:cNvPr id="17" name="object 17"/>
            <p:cNvSpPr/>
            <p:nvPr/>
          </p:nvSpPr>
          <p:spPr>
            <a:xfrm>
              <a:off x="8105774" y="1685924"/>
              <a:ext cx="3629025" cy="1047750"/>
            </a:xfrm>
            <a:custGeom>
              <a:avLst/>
              <a:gdLst/>
              <a:ahLst/>
              <a:cxnLst/>
              <a:rect l="l" t="t" r="r" b="b"/>
              <a:pathLst>
                <a:path w="3629025" h="1047750">
                  <a:moveTo>
                    <a:pt x="3514724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7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4" y="8700"/>
                  </a:lnTo>
                  <a:lnTo>
                    <a:pt x="3595546" y="33477"/>
                  </a:lnTo>
                  <a:lnTo>
                    <a:pt x="3620323" y="70559"/>
                  </a:lnTo>
                  <a:lnTo>
                    <a:pt x="3629024" y="114299"/>
                  </a:lnTo>
                  <a:lnTo>
                    <a:pt x="3629024" y="933449"/>
                  </a:lnTo>
                  <a:lnTo>
                    <a:pt x="3620323" y="977190"/>
                  </a:lnTo>
                  <a:lnTo>
                    <a:pt x="3595546" y="1014272"/>
                  </a:lnTo>
                  <a:lnTo>
                    <a:pt x="3558464" y="1039049"/>
                  </a:lnTo>
                  <a:lnTo>
                    <a:pt x="3514724" y="10477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05774" y="1685924"/>
              <a:ext cx="3629025" cy="1047750"/>
            </a:xfrm>
            <a:custGeom>
              <a:avLst/>
              <a:gdLst/>
              <a:ahLst/>
              <a:cxnLst/>
              <a:rect l="l" t="t" r="r" b="b"/>
              <a:pathLst>
                <a:path w="3629025" h="1047750">
                  <a:moveTo>
                    <a:pt x="3514724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8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25984" y="543"/>
                  </a:lnTo>
                  <a:lnTo>
                    <a:pt x="3568659" y="13511"/>
                  </a:lnTo>
                  <a:lnTo>
                    <a:pt x="35779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39704"/>
                  </a:lnTo>
                  <a:lnTo>
                    <a:pt x="31627" y="981167"/>
                  </a:lnTo>
                  <a:lnTo>
                    <a:pt x="66582" y="1016121"/>
                  </a:lnTo>
                  <a:lnTo>
                    <a:pt x="108045" y="1028699"/>
                  </a:lnTo>
                  <a:lnTo>
                    <a:pt x="3577911" y="1028699"/>
                  </a:lnTo>
                  <a:lnTo>
                    <a:pt x="3568659" y="1034238"/>
                  </a:lnTo>
                  <a:lnTo>
                    <a:pt x="3558464" y="1039049"/>
                  </a:lnTo>
                  <a:lnTo>
                    <a:pt x="3547854" y="1042855"/>
                  </a:lnTo>
                  <a:lnTo>
                    <a:pt x="3537027" y="1045574"/>
                  </a:lnTo>
                  <a:lnTo>
                    <a:pt x="3525984" y="1047206"/>
                  </a:lnTo>
                  <a:lnTo>
                    <a:pt x="3514724" y="1047749"/>
                  </a:lnTo>
                  <a:close/>
                </a:path>
                <a:path w="3629025" h="1047750">
                  <a:moveTo>
                    <a:pt x="3577911" y="1028699"/>
                  </a:moveTo>
                  <a:lnTo>
                    <a:pt x="3520978" y="1028699"/>
                  </a:lnTo>
                  <a:lnTo>
                    <a:pt x="3527172" y="1028089"/>
                  </a:lnTo>
                  <a:lnTo>
                    <a:pt x="3539440" y="1025649"/>
                  </a:lnTo>
                  <a:lnTo>
                    <a:pt x="3577653" y="1005224"/>
                  </a:lnTo>
                  <a:lnTo>
                    <a:pt x="3605116" y="964122"/>
                  </a:lnTo>
                  <a:lnTo>
                    <a:pt x="3609974" y="939704"/>
                  </a:lnTo>
                  <a:lnTo>
                    <a:pt x="3609974" y="108045"/>
                  </a:lnTo>
                  <a:lnTo>
                    <a:pt x="3609481" y="103040"/>
                  </a:lnTo>
                  <a:lnTo>
                    <a:pt x="3609364" y="101851"/>
                  </a:lnTo>
                  <a:lnTo>
                    <a:pt x="3590447" y="56181"/>
                  </a:lnTo>
                  <a:lnTo>
                    <a:pt x="3556952" y="28693"/>
                  </a:lnTo>
                  <a:lnTo>
                    <a:pt x="3520978" y="19049"/>
                  </a:lnTo>
                  <a:lnTo>
                    <a:pt x="3577911" y="19049"/>
                  </a:lnTo>
                  <a:lnTo>
                    <a:pt x="3609779" y="50786"/>
                  </a:lnTo>
                  <a:lnTo>
                    <a:pt x="3626849" y="91996"/>
                  </a:lnTo>
                  <a:lnTo>
                    <a:pt x="3629024" y="933449"/>
                  </a:lnTo>
                  <a:lnTo>
                    <a:pt x="3628480" y="944709"/>
                  </a:lnTo>
                  <a:lnTo>
                    <a:pt x="3615512" y="987385"/>
                  </a:lnTo>
                  <a:lnTo>
                    <a:pt x="3587200" y="1021849"/>
                  </a:lnTo>
                  <a:lnTo>
                    <a:pt x="3578237" y="1028504"/>
                  </a:lnTo>
                  <a:lnTo>
                    <a:pt x="3577911" y="1028699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66250" y="1895474"/>
              <a:ext cx="304800" cy="3048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067899" y="2292350"/>
            <a:ext cx="1701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50" dirty="0">
                <a:solidFill>
                  <a:srgbClr val="FFFFFF"/>
                </a:solidFill>
                <a:latin typeface="Trebuchet MS"/>
                <a:cs typeface="Trebuchet MS"/>
              </a:rPr>
              <a:t>DeepSORT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95" dirty="0">
                <a:solidFill>
                  <a:srgbClr val="FFFFFF"/>
                </a:solidFill>
                <a:latin typeface="Trebuchet MS"/>
                <a:cs typeface="Trebuchet MS"/>
              </a:rPr>
              <a:t>Tracking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7199" y="3019424"/>
            <a:ext cx="3629025" cy="1047750"/>
            <a:chOff x="457199" y="3019424"/>
            <a:chExt cx="3629025" cy="1047750"/>
          </a:xfrm>
        </p:grpSpPr>
        <p:sp>
          <p:nvSpPr>
            <p:cNvPr id="22" name="object 22"/>
            <p:cNvSpPr/>
            <p:nvPr/>
          </p:nvSpPr>
          <p:spPr>
            <a:xfrm>
              <a:off x="457199" y="3019424"/>
              <a:ext cx="3629025" cy="1047750"/>
            </a:xfrm>
            <a:custGeom>
              <a:avLst/>
              <a:gdLst/>
              <a:ahLst/>
              <a:cxnLst/>
              <a:rect l="l" t="t" r="r" b="b"/>
              <a:pathLst>
                <a:path w="3629025" h="1047750">
                  <a:moveTo>
                    <a:pt x="3514724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7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4" y="8700"/>
                  </a:lnTo>
                  <a:lnTo>
                    <a:pt x="3595546" y="33477"/>
                  </a:lnTo>
                  <a:lnTo>
                    <a:pt x="3620323" y="70559"/>
                  </a:lnTo>
                  <a:lnTo>
                    <a:pt x="3629024" y="114299"/>
                  </a:lnTo>
                  <a:lnTo>
                    <a:pt x="3629024" y="933449"/>
                  </a:lnTo>
                  <a:lnTo>
                    <a:pt x="3620323" y="977190"/>
                  </a:lnTo>
                  <a:lnTo>
                    <a:pt x="3595546" y="1014272"/>
                  </a:lnTo>
                  <a:lnTo>
                    <a:pt x="3558464" y="1039049"/>
                  </a:lnTo>
                  <a:lnTo>
                    <a:pt x="3514724" y="10477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7199" y="3019424"/>
              <a:ext cx="3629025" cy="1047750"/>
            </a:xfrm>
            <a:custGeom>
              <a:avLst/>
              <a:gdLst/>
              <a:ahLst/>
              <a:cxnLst/>
              <a:rect l="l" t="t" r="r" b="b"/>
              <a:pathLst>
                <a:path w="3629025" h="1047750">
                  <a:moveTo>
                    <a:pt x="3514724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8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5" y="8700"/>
                  </a:lnTo>
                  <a:lnTo>
                    <a:pt x="35779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39704"/>
                  </a:lnTo>
                  <a:lnTo>
                    <a:pt x="31627" y="981167"/>
                  </a:lnTo>
                  <a:lnTo>
                    <a:pt x="66582" y="1016121"/>
                  </a:lnTo>
                  <a:lnTo>
                    <a:pt x="108045" y="1028699"/>
                  </a:lnTo>
                  <a:lnTo>
                    <a:pt x="3577911" y="1028699"/>
                  </a:lnTo>
                  <a:lnTo>
                    <a:pt x="3568659" y="1034238"/>
                  </a:lnTo>
                  <a:lnTo>
                    <a:pt x="3558465" y="1039049"/>
                  </a:lnTo>
                  <a:lnTo>
                    <a:pt x="3547854" y="1042855"/>
                  </a:lnTo>
                  <a:lnTo>
                    <a:pt x="3537027" y="1045574"/>
                  </a:lnTo>
                  <a:lnTo>
                    <a:pt x="3525984" y="1047206"/>
                  </a:lnTo>
                  <a:lnTo>
                    <a:pt x="3514724" y="1047749"/>
                  </a:lnTo>
                  <a:close/>
                </a:path>
                <a:path w="3629025" h="1047750">
                  <a:moveTo>
                    <a:pt x="3577911" y="1028699"/>
                  </a:moveTo>
                  <a:lnTo>
                    <a:pt x="3520978" y="1028699"/>
                  </a:lnTo>
                  <a:lnTo>
                    <a:pt x="3527172" y="1028089"/>
                  </a:lnTo>
                  <a:lnTo>
                    <a:pt x="3539440" y="1025649"/>
                  </a:lnTo>
                  <a:lnTo>
                    <a:pt x="3577653" y="1005224"/>
                  </a:lnTo>
                  <a:lnTo>
                    <a:pt x="3605116" y="964122"/>
                  </a:lnTo>
                  <a:lnTo>
                    <a:pt x="3609974" y="939704"/>
                  </a:lnTo>
                  <a:lnTo>
                    <a:pt x="3609974" y="108045"/>
                  </a:lnTo>
                  <a:lnTo>
                    <a:pt x="3609481" y="103040"/>
                  </a:lnTo>
                  <a:lnTo>
                    <a:pt x="3609364" y="101851"/>
                  </a:lnTo>
                  <a:lnTo>
                    <a:pt x="3590447" y="56181"/>
                  </a:lnTo>
                  <a:lnTo>
                    <a:pt x="3556952" y="28693"/>
                  </a:lnTo>
                  <a:lnTo>
                    <a:pt x="3520978" y="19049"/>
                  </a:lnTo>
                  <a:lnTo>
                    <a:pt x="3577911" y="19049"/>
                  </a:lnTo>
                  <a:lnTo>
                    <a:pt x="3609779" y="50786"/>
                  </a:lnTo>
                  <a:lnTo>
                    <a:pt x="3626849" y="91996"/>
                  </a:lnTo>
                  <a:lnTo>
                    <a:pt x="3629024" y="933449"/>
                  </a:lnTo>
                  <a:lnTo>
                    <a:pt x="3628480" y="944709"/>
                  </a:lnTo>
                  <a:lnTo>
                    <a:pt x="3615512" y="987385"/>
                  </a:lnTo>
                  <a:lnTo>
                    <a:pt x="3587200" y="1021849"/>
                  </a:lnTo>
                  <a:lnTo>
                    <a:pt x="3578237" y="1028504"/>
                  </a:lnTo>
                  <a:lnTo>
                    <a:pt x="3577911" y="1028699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82700" y="3248024"/>
              <a:ext cx="381000" cy="2667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682303" y="3625850"/>
            <a:ext cx="1181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55" dirty="0">
                <a:solidFill>
                  <a:srgbClr val="FFFFFF"/>
                </a:solidFill>
                <a:latin typeface="Trebuchet MS"/>
                <a:cs typeface="Trebuchet MS"/>
              </a:rPr>
              <a:t>Kalman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Filter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276724" y="3019424"/>
            <a:ext cx="3638550" cy="1047750"/>
            <a:chOff x="4276724" y="3019424"/>
            <a:chExt cx="3638550" cy="1047750"/>
          </a:xfrm>
        </p:grpSpPr>
        <p:sp>
          <p:nvSpPr>
            <p:cNvPr id="27" name="object 27"/>
            <p:cNvSpPr/>
            <p:nvPr/>
          </p:nvSpPr>
          <p:spPr>
            <a:xfrm>
              <a:off x="4276724" y="3019424"/>
              <a:ext cx="3638550" cy="1047750"/>
            </a:xfrm>
            <a:custGeom>
              <a:avLst/>
              <a:gdLst/>
              <a:ahLst/>
              <a:cxnLst/>
              <a:rect l="l" t="t" r="r" b="b"/>
              <a:pathLst>
                <a:path w="3638550" h="1047750">
                  <a:moveTo>
                    <a:pt x="3524249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7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24249" y="0"/>
                  </a:lnTo>
                  <a:lnTo>
                    <a:pt x="3567989" y="8700"/>
                  </a:lnTo>
                  <a:lnTo>
                    <a:pt x="3605071" y="33477"/>
                  </a:lnTo>
                  <a:lnTo>
                    <a:pt x="3629848" y="70559"/>
                  </a:lnTo>
                  <a:lnTo>
                    <a:pt x="3638549" y="114299"/>
                  </a:lnTo>
                  <a:lnTo>
                    <a:pt x="3638549" y="933449"/>
                  </a:lnTo>
                  <a:lnTo>
                    <a:pt x="3629848" y="977190"/>
                  </a:lnTo>
                  <a:lnTo>
                    <a:pt x="3605071" y="1014272"/>
                  </a:lnTo>
                  <a:lnTo>
                    <a:pt x="3567989" y="1039049"/>
                  </a:lnTo>
                  <a:lnTo>
                    <a:pt x="3524249" y="10477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76724" y="3019424"/>
              <a:ext cx="3638550" cy="1047750"/>
            </a:xfrm>
            <a:custGeom>
              <a:avLst/>
              <a:gdLst/>
              <a:ahLst/>
              <a:cxnLst/>
              <a:rect l="l" t="t" r="r" b="b"/>
              <a:pathLst>
                <a:path w="3638550" h="1047750">
                  <a:moveTo>
                    <a:pt x="3524249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8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24249" y="0"/>
                  </a:lnTo>
                  <a:lnTo>
                    <a:pt x="3567990" y="8700"/>
                  </a:lnTo>
                  <a:lnTo>
                    <a:pt x="358743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39704"/>
                  </a:lnTo>
                  <a:lnTo>
                    <a:pt x="31627" y="981167"/>
                  </a:lnTo>
                  <a:lnTo>
                    <a:pt x="66582" y="1016121"/>
                  </a:lnTo>
                  <a:lnTo>
                    <a:pt x="108045" y="1028699"/>
                  </a:lnTo>
                  <a:lnTo>
                    <a:pt x="3587436" y="1028699"/>
                  </a:lnTo>
                  <a:lnTo>
                    <a:pt x="3578184" y="1034238"/>
                  </a:lnTo>
                  <a:lnTo>
                    <a:pt x="3567990" y="1039049"/>
                  </a:lnTo>
                  <a:lnTo>
                    <a:pt x="3557379" y="1042855"/>
                  </a:lnTo>
                  <a:lnTo>
                    <a:pt x="3546552" y="1045574"/>
                  </a:lnTo>
                  <a:lnTo>
                    <a:pt x="3535509" y="1047206"/>
                  </a:lnTo>
                  <a:lnTo>
                    <a:pt x="3524249" y="1047749"/>
                  </a:lnTo>
                  <a:close/>
                </a:path>
                <a:path w="3638550" h="1047750">
                  <a:moveTo>
                    <a:pt x="3587436" y="1028699"/>
                  </a:moveTo>
                  <a:lnTo>
                    <a:pt x="3530503" y="1028699"/>
                  </a:lnTo>
                  <a:lnTo>
                    <a:pt x="3536697" y="1028089"/>
                  </a:lnTo>
                  <a:lnTo>
                    <a:pt x="3548965" y="1025649"/>
                  </a:lnTo>
                  <a:lnTo>
                    <a:pt x="3587178" y="1005224"/>
                  </a:lnTo>
                  <a:lnTo>
                    <a:pt x="3614642" y="964122"/>
                  </a:lnTo>
                  <a:lnTo>
                    <a:pt x="3619499" y="939704"/>
                  </a:lnTo>
                  <a:lnTo>
                    <a:pt x="3619499" y="108045"/>
                  </a:lnTo>
                  <a:lnTo>
                    <a:pt x="3606921" y="66582"/>
                  </a:lnTo>
                  <a:lnTo>
                    <a:pt x="3571967" y="31627"/>
                  </a:lnTo>
                  <a:lnTo>
                    <a:pt x="3530503" y="19049"/>
                  </a:lnTo>
                  <a:lnTo>
                    <a:pt x="3587436" y="19049"/>
                  </a:lnTo>
                  <a:lnTo>
                    <a:pt x="3619304" y="50786"/>
                  </a:lnTo>
                  <a:lnTo>
                    <a:pt x="3636374" y="91996"/>
                  </a:lnTo>
                  <a:lnTo>
                    <a:pt x="3638549" y="933449"/>
                  </a:lnTo>
                  <a:lnTo>
                    <a:pt x="3638005" y="944709"/>
                  </a:lnTo>
                  <a:lnTo>
                    <a:pt x="3625037" y="987385"/>
                  </a:lnTo>
                  <a:lnTo>
                    <a:pt x="3596725" y="1021849"/>
                  </a:lnTo>
                  <a:lnTo>
                    <a:pt x="3587762" y="1028504"/>
                  </a:lnTo>
                  <a:lnTo>
                    <a:pt x="3587436" y="1028699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3450" y="3228974"/>
              <a:ext cx="304800" cy="3048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362525" y="3625850"/>
            <a:ext cx="14668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65" dirty="0">
                <a:solidFill>
                  <a:srgbClr val="FFFFFF"/>
                </a:solidFill>
                <a:latin typeface="Trebuchet MS"/>
                <a:cs typeface="Trebuchet MS"/>
              </a:rPr>
              <a:t>PID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35" dirty="0">
                <a:solidFill>
                  <a:srgbClr val="FFFFFF"/>
                </a:solidFill>
                <a:latin typeface="Trebuchet MS"/>
                <a:cs typeface="Trebuchet MS"/>
              </a:rPr>
              <a:t>Gimbal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20" dirty="0">
                <a:solidFill>
                  <a:srgbClr val="FFFFFF"/>
                </a:solidFill>
                <a:latin typeface="Trebuchet MS"/>
                <a:cs typeface="Trebuchet MS"/>
              </a:rPr>
              <a:t>Align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05774" y="3019424"/>
            <a:ext cx="3629025" cy="1047750"/>
            <a:chOff x="8105774" y="3019424"/>
            <a:chExt cx="3629025" cy="1047750"/>
          </a:xfrm>
        </p:grpSpPr>
        <p:sp>
          <p:nvSpPr>
            <p:cNvPr id="32" name="object 32"/>
            <p:cNvSpPr/>
            <p:nvPr/>
          </p:nvSpPr>
          <p:spPr>
            <a:xfrm>
              <a:off x="8105774" y="3019424"/>
              <a:ext cx="3629025" cy="1047750"/>
            </a:xfrm>
            <a:custGeom>
              <a:avLst/>
              <a:gdLst/>
              <a:ahLst/>
              <a:cxnLst/>
              <a:rect l="l" t="t" r="r" b="b"/>
              <a:pathLst>
                <a:path w="3629025" h="1047750">
                  <a:moveTo>
                    <a:pt x="3514724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7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4" y="8700"/>
                  </a:lnTo>
                  <a:lnTo>
                    <a:pt x="3595546" y="33477"/>
                  </a:lnTo>
                  <a:lnTo>
                    <a:pt x="3620323" y="70559"/>
                  </a:lnTo>
                  <a:lnTo>
                    <a:pt x="3629024" y="114299"/>
                  </a:lnTo>
                  <a:lnTo>
                    <a:pt x="3629024" y="933449"/>
                  </a:lnTo>
                  <a:lnTo>
                    <a:pt x="3620323" y="977190"/>
                  </a:lnTo>
                  <a:lnTo>
                    <a:pt x="3595546" y="1014272"/>
                  </a:lnTo>
                  <a:lnTo>
                    <a:pt x="3558464" y="1039049"/>
                  </a:lnTo>
                  <a:lnTo>
                    <a:pt x="3514724" y="10477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105774" y="3019424"/>
              <a:ext cx="3629025" cy="1047750"/>
            </a:xfrm>
            <a:custGeom>
              <a:avLst/>
              <a:gdLst/>
              <a:ahLst/>
              <a:cxnLst/>
              <a:rect l="l" t="t" r="r" b="b"/>
              <a:pathLst>
                <a:path w="3629025" h="1047750">
                  <a:moveTo>
                    <a:pt x="3514724" y="1047749"/>
                  </a:moveTo>
                  <a:lnTo>
                    <a:pt x="114299" y="1047749"/>
                  </a:lnTo>
                  <a:lnTo>
                    <a:pt x="103040" y="1047206"/>
                  </a:lnTo>
                  <a:lnTo>
                    <a:pt x="60364" y="1034238"/>
                  </a:lnTo>
                  <a:lnTo>
                    <a:pt x="25900" y="1005925"/>
                  </a:lnTo>
                  <a:lnTo>
                    <a:pt x="4894" y="966579"/>
                  </a:lnTo>
                  <a:lnTo>
                    <a:pt x="0" y="9334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4" y="8700"/>
                  </a:lnTo>
                  <a:lnTo>
                    <a:pt x="35779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939704"/>
                  </a:lnTo>
                  <a:lnTo>
                    <a:pt x="31627" y="981167"/>
                  </a:lnTo>
                  <a:lnTo>
                    <a:pt x="66582" y="1016121"/>
                  </a:lnTo>
                  <a:lnTo>
                    <a:pt x="108045" y="1028699"/>
                  </a:lnTo>
                  <a:lnTo>
                    <a:pt x="3577911" y="1028699"/>
                  </a:lnTo>
                  <a:lnTo>
                    <a:pt x="3568659" y="1034238"/>
                  </a:lnTo>
                  <a:lnTo>
                    <a:pt x="3558464" y="1039049"/>
                  </a:lnTo>
                  <a:lnTo>
                    <a:pt x="3547854" y="1042855"/>
                  </a:lnTo>
                  <a:lnTo>
                    <a:pt x="3537027" y="1045574"/>
                  </a:lnTo>
                  <a:lnTo>
                    <a:pt x="3525984" y="1047206"/>
                  </a:lnTo>
                  <a:lnTo>
                    <a:pt x="3514724" y="1047749"/>
                  </a:lnTo>
                  <a:close/>
                </a:path>
                <a:path w="3629025" h="1047750">
                  <a:moveTo>
                    <a:pt x="3577911" y="1028699"/>
                  </a:moveTo>
                  <a:lnTo>
                    <a:pt x="3520978" y="1028699"/>
                  </a:lnTo>
                  <a:lnTo>
                    <a:pt x="3527172" y="1028089"/>
                  </a:lnTo>
                  <a:lnTo>
                    <a:pt x="3539440" y="1025649"/>
                  </a:lnTo>
                  <a:lnTo>
                    <a:pt x="3577653" y="1005224"/>
                  </a:lnTo>
                  <a:lnTo>
                    <a:pt x="3605116" y="964122"/>
                  </a:lnTo>
                  <a:lnTo>
                    <a:pt x="3609974" y="939704"/>
                  </a:lnTo>
                  <a:lnTo>
                    <a:pt x="3609974" y="108045"/>
                  </a:lnTo>
                  <a:lnTo>
                    <a:pt x="3609481" y="103040"/>
                  </a:lnTo>
                  <a:lnTo>
                    <a:pt x="3609364" y="101851"/>
                  </a:lnTo>
                  <a:lnTo>
                    <a:pt x="3590447" y="56181"/>
                  </a:lnTo>
                  <a:lnTo>
                    <a:pt x="3556952" y="28693"/>
                  </a:lnTo>
                  <a:lnTo>
                    <a:pt x="3520978" y="19049"/>
                  </a:lnTo>
                  <a:lnTo>
                    <a:pt x="3577911" y="19049"/>
                  </a:lnTo>
                  <a:lnTo>
                    <a:pt x="3609779" y="50786"/>
                  </a:lnTo>
                  <a:lnTo>
                    <a:pt x="3626849" y="91996"/>
                  </a:lnTo>
                  <a:lnTo>
                    <a:pt x="3629024" y="933449"/>
                  </a:lnTo>
                  <a:lnTo>
                    <a:pt x="3628480" y="944709"/>
                  </a:lnTo>
                  <a:lnTo>
                    <a:pt x="3615512" y="987385"/>
                  </a:lnTo>
                  <a:lnTo>
                    <a:pt x="3587200" y="1021849"/>
                  </a:lnTo>
                  <a:lnTo>
                    <a:pt x="3578237" y="1028504"/>
                  </a:lnTo>
                  <a:lnTo>
                    <a:pt x="3577911" y="1028699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66250" y="3228974"/>
              <a:ext cx="304800" cy="3048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9070429" y="3625850"/>
            <a:ext cx="1696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35" dirty="0">
                <a:solidFill>
                  <a:srgbClr val="FFFFFF"/>
                </a:solidFill>
                <a:latin typeface="Trebuchet MS"/>
                <a:cs typeface="Trebuchet MS"/>
              </a:rPr>
              <a:t>Distance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95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Velocity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57199" y="4352925"/>
            <a:ext cx="3629025" cy="1266825"/>
            <a:chOff x="457199" y="4352925"/>
            <a:chExt cx="3629025" cy="1266825"/>
          </a:xfrm>
        </p:grpSpPr>
        <p:sp>
          <p:nvSpPr>
            <p:cNvPr id="37" name="object 37"/>
            <p:cNvSpPr/>
            <p:nvPr/>
          </p:nvSpPr>
          <p:spPr>
            <a:xfrm>
              <a:off x="457199" y="4352925"/>
              <a:ext cx="3629025" cy="1266825"/>
            </a:xfrm>
            <a:custGeom>
              <a:avLst/>
              <a:gdLst/>
              <a:ahLst/>
              <a:cxnLst/>
              <a:rect l="l" t="t" r="r" b="b"/>
              <a:pathLst>
                <a:path w="3629025" h="1266825">
                  <a:moveTo>
                    <a:pt x="3514724" y="1266824"/>
                  </a:moveTo>
                  <a:lnTo>
                    <a:pt x="114299" y="1266824"/>
                  </a:lnTo>
                  <a:lnTo>
                    <a:pt x="103040" y="1266281"/>
                  </a:lnTo>
                  <a:lnTo>
                    <a:pt x="60364" y="1253312"/>
                  </a:lnTo>
                  <a:lnTo>
                    <a:pt x="25900" y="1225000"/>
                  </a:lnTo>
                  <a:lnTo>
                    <a:pt x="4894" y="1185654"/>
                  </a:lnTo>
                  <a:lnTo>
                    <a:pt x="0" y="1152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4" y="8700"/>
                  </a:lnTo>
                  <a:lnTo>
                    <a:pt x="3595546" y="33477"/>
                  </a:lnTo>
                  <a:lnTo>
                    <a:pt x="3620323" y="70559"/>
                  </a:lnTo>
                  <a:lnTo>
                    <a:pt x="3629024" y="114299"/>
                  </a:lnTo>
                  <a:lnTo>
                    <a:pt x="3629024" y="1152524"/>
                  </a:lnTo>
                  <a:lnTo>
                    <a:pt x="3620323" y="1196265"/>
                  </a:lnTo>
                  <a:lnTo>
                    <a:pt x="3595546" y="1233347"/>
                  </a:lnTo>
                  <a:lnTo>
                    <a:pt x="3558464" y="1258124"/>
                  </a:lnTo>
                  <a:lnTo>
                    <a:pt x="3514724" y="12668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7199" y="4352925"/>
              <a:ext cx="3629025" cy="1266825"/>
            </a:xfrm>
            <a:custGeom>
              <a:avLst/>
              <a:gdLst/>
              <a:ahLst/>
              <a:cxnLst/>
              <a:rect l="l" t="t" r="r" b="b"/>
              <a:pathLst>
                <a:path w="3629025" h="1266825">
                  <a:moveTo>
                    <a:pt x="3514724" y="1266824"/>
                  </a:moveTo>
                  <a:lnTo>
                    <a:pt x="114299" y="1266824"/>
                  </a:lnTo>
                  <a:lnTo>
                    <a:pt x="103040" y="1266281"/>
                  </a:lnTo>
                  <a:lnTo>
                    <a:pt x="60364" y="1253312"/>
                  </a:lnTo>
                  <a:lnTo>
                    <a:pt x="25900" y="1225000"/>
                  </a:lnTo>
                  <a:lnTo>
                    <a:pt x="4894" y="1185654"/>
                  </a:lnTo>
                  <a:lnTo>
                    <a:pt x="0" y="1152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5" y="8700"/>
                  </a:lnTo>
                  <a:lnTo>
                    <a:pt x="35779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58779"/>
                  </a:lnTo>
                  <a:lnTo>
                    <a:pt x="31627" y="1200242"/>
                  </a:lnTo>
                  <a:lnTo>
                    <a:pt x="66582" y="1235196"/>
                  </a:lnTo>
                  <a:lnTo>
                    <a:pt x="108045" y="1247774"/>
                  </a:lnTo>
                  <a:lnTo>
                    <a:pt x="3577911" y="1247774"/>
                  </a:lnTo>
                  <a:lnTo>
                    <a:pt x="3568659" y="1253312"/>
                  </a:lnTo>
                  <a:lnTo>
                    <a:pt x="3558465" y="1258124"/>
                  </a:lnTo>
                  <a:lnTo>
                    <a:pt x="3547854" y="1261930"/>
                  </a:lnTo>
                  <a:lnTo>
                    <a:pt x="3537027" y="1264649"/>
                  </a:lnTo>
                  <a:lnTo>
                    <a:pt x="3525984" y="1266281"/>
                  </a:lnTo>
                  <a:lnTo>
                    <a:pt x="3514724" y="1266824"/>
                  </a:lnTo>
                  <a:close/>
                </a:path>
                <a:path w="3629025" h="1266825">
                  <a:moveTo>
                    <a:pt x="3577911" y="1247774"/>
                  </a:moveTo>
                  <a:lnTo>
                    <a:pt x="3520978" y="1247774"/>
                  </a:lnTo>
                  <a:lnTo>
                    <a:pt x="3527172" y="1247164"/>
                  </a:lnTo>
                  <a:lnTo>
                    <a:pt x="3539440" y="1244724"/>
                  </a:lnTo>
                  <a:lnTo>
                    <a:pt x="3577653" y="1224298"/>
                  </a:lnTo>
                  <a:lnTo>
                    <a:pt x="3605116" y="1183197"/>
                  </a:lnTo>
                  <a:lnTo>
                    <a:pt x="3609974" y="1158779"/>
                  </a:lnTo>
                  <a:lnTo>
                    <a:pt x="3609974" y="108045"/>
                  </a:lnTo>
                  <a:lnTo>
                    <a:pt x="3609481" y="103040"/>
                  </a:lnTo>
                  <a:lnTo>
                    <a:pt x="3609364" y="101851"/>
                  </a:lnTo>
                  <a:lnTo>
                    <a:pt x="3590447" y="56181"/>
                  </a:lnTo>
                  <a:lnTo>
                    <a:pt x="3556952" y="28693"/>
                  </a:lnTo>
                  <a:lnTo>
                    <a:pt x="3520978" y="19049"/>
                  </a:lnTo>
                  <a:lnTo>
                    <a:pt x="3577911" y="19049"/>
                  </a:lnTo>
                  <a:lnTo>
                    <a:pt x="3609779" y="50786"/>
                  </a:lnTo>
                  <a:lnTo>
                    <a:pt x="3626849" y="91996"/>
                  </a:lnTo>
                  <a:lnTo>
                    <a:pt x="3629024" y="1152524"/>
                  </a:lnTo>
                  <a:lnTo>
                    <a:pt x="3628480" y="1163784"/>
                  </a:lnTo>
                  <a:lnTo>
                    <a:pt x="3615512" y="1206459"/>
                  </a:lnTo>
                  <a:lnTo>
                    <a:pt x="3587200" y="1240924"/>
                  </a:lnTo>
                  <a:lnTo>
                    <a:pt x="3578237" y="1247579"/>
                  </a:lnTo>
                  <a:lnTo>
                    <a:pt x="3577911" y="1247774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20800" y="4562474"/>
              <a:ext cx="304800" cy="30480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763563" y="4959350"/>
            <a:ext cx="1019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90" dirty="0">
                <a:solidFill>
                  <a:srgbClr val="FFFFFF"/>
                </a:solidFill>
                <a:latin typeface="Trebuchet MS"/>
                <a:cs typeface="Trebuchet MS"/>
              </a:rPr>
              <a:t>CSV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50" dirty="0">
                <a:solidFill>
                  <a:srgbClr val="FFFFFF"/>
                </a:solidFill>
                <a:latin typeface="Trebuchet MS"/>
                <a:cs typeface="Trebuchet MS"/>
              </a:rPr>
              <a:t>Logger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276724" y="4352925"/>
            <a:ext cx="3638550" cy="1266825"/>
            <a:chOff x="4276724" y="4352925"/>
            <a:chExt cx="3638550" cy="1266825"/>
          </a:xfrm>
        </p:grpSpPr>
        <p:sp>
          <p:nvSpPr>
            <p:cNvPr id="42" name="object 42"/>
            <p:cNvSpPr/>
            <p:nvPr/>
          </p:nvSpPr>
          <p:spPr>
            <a:xfrm>
              <a:off x="4276724" y="4352925"/>
              <a:ext cx="3638550" cy="1266825"/>
            </a:xfrm>
            <a:custGeom>
              <a:avLst/>
              <a:gdLst/>
              <a:ahLst/>
              <a:cxnLst/>
              <a:rect l="l" t="t" r="r" b="b"/>
              <a:pathLst>
                <a:path w="3638550" h="1266825">
                  <a:moveTo>
                    <a:pt x="3524249" y="1266824"/>
                  </a:moveTo>
                  <a:lnTo>
                    <a:pt x="114299" y="1266824"/>
                  </a:lnTo>
                  <a:lnTo>
                    <a:pt x="103040" y="1266281"/>
                  </a:lnTo>
                  <a:lnTo>
                    <a:pt x="60364" y="1253312"/>
                  </a:lnTo>
                  <a:lnTo>
                    <a:pt x="25900" y="1225000"/>
                  </a:lnTo>
                  <a:lnTo>
                    <a:pt x="4894" y="1185654"/>
                  </a:lnTo>
                  <a:lnTo>
                    <a:pt x="0" y="1152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24249" y="0"/>
                  </a:lnTo>
                  <a:lnTo>
                    <a:pt x="3567989" y="8700"/>
                  </a:lnTo>
                  <a:lnTo>
                    <a:pt x="3605071" y="33477"/>
                  </a:lnTo>
                  <a:lnTo>
                    <a:pt x="3629848" y="70559"/>
                  </a:lnTo>
                  <a:lnTo>
                    <a:pt x="3638549" y="114299"/>
                  </a:lnTo>
                  <a:lnTo>
                    <a:pt x="3638549" y="1152524"/>
                  </a:lnTo>
                  <a:lnTo>
                    <a:pt x="3629848" y="1196265"/>
                  </a:lnTo>
                  <a:lnTo>
                    <a:pt x="3605071" y="1233347"/>
                  </a:lnTo>
                  <a:lnTo>
                    <a:pt x="3567989" y="1258124"/>
                  </a:lnTo>
                  <a:lnTo>
                    <a:pt x="3524249" y="12668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76724" y="4352925"/>
              <a:ext cx="3638550" cy="1266825"/>
            </a:xfrm>
            <a:custGeom>
              <a:avLst/>
              <a:gdLst/>
              <a:ahLst/>
              <a:cxnLst/>
              <a:rect l="l" t="t" r="r" b="b"/>
              <a:pathLst>
                <a:path w="3638550" h="1266825">
                  <a:moveTo>
                    <a:pt x="3524249" y="1266824"/>
                  </a:moveTo>
                  <a:lnTo>
                    <a:pt x="114299" y="1266824"/>
                  </a:lnTo>
                  <a:lnTo>
                    <a:pt x="103040" y="1266281"/>
                  </a:lnTo>
                  <a:lnTo>
                    <a:pt x="60364" y="1253312"/>
                  </a:lnTo>
                  <a:lnTo>
                    <a:pt x="25900" y="1225000"/>
                  </a:lnTo>
                  <a:lnTo>
                    <a:pt x="4894" y="1185654"/>
                  </a:lnTo>
                  <a:lnTo>
                    <a:pt x="0" y="1152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24249" y="0"/>
                  </a:lnTo>
                  <a:lnTo>
                    <a:pt x="3567990" y="8700"/>
                  </a:lnTo>
                  <a:lnTo>
                    <a:pt x="3587436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58779"/>
                  </a:lnTo>
                  <a:lnTo>
                    <a:pt x="19542" y="1163784"/>
                  </a:lnTo>
                  <a:lnTo>
                    <a:pt x="19660" y="1164973"/>
                  </a:lnTo>
                  <a:lnTo>
                    <a:pt x="38577" y="1210642"/>
                  </a:lnTo>
                  <a:lnTo>
                    <a:pt x="72071" y="1238130"/>
                  </a:lnTo>
                  <a:lnTo>
                    <a:pt x="108045" y="1247774"/>
                  </a:lnTo>
                  <a:lnTo>
                    <a:pt x="3587437" y="1247774"/>
                  </a:lnTo>
                  <a:lnTo>
                    <a:pt x="3578184" y="1253312"/>
                  </a:lnTo>
                  <a:lnTo>
                    <a:pt x="3567990" y="1258124"/>
                  </a:lnTo>
                  <a:lnTo>
                    <a:pt x="3557379" y="1261930"/>
                  </a:lnTo>
                  <a:lnTo>
                    <a:pt x="3546552" y="1264649"/>
                  </a:lnTo>
                  <a:lnTo>
                    <a:pt x="3535509" y="1266281"/>
                  </a:lnTo>
                  <a:lnTo>
                    <a:pt x="3524249" y="1266824"/>
                  </a:lnTo>
                  <a:close/>
                </a:path>
                <a:path w="3638550" h="1266825">
                  <a:moveTo>
                    <a:pt x="3587437" y="1247774"/>
                  </a:moveTo>
                  <a:lnTo>
                    <a:pt x="3530503" y="1247774"/>
                  </a:lnTo>
                  <a:lnTo>
                    <a:pt x="3536697" y="1247164"/>
                  </a:lnTo>
                  <a:lnTo>
                    <a:pt x="3548965" y="1244724"/>
                  </a:lnTo>
                  <a:lnTo>
                    <a:pt x="3587178" y="1224298"/>
                  </a:lnTo>
                  <a:lnTo>
                    <a:pt x="3614642" y="1183197"/>
                  </a:lnTo>
                  <a:lnTo>
                    <a:pt x="3619499" y="1158779"/>
                  </a:lnTo>
                  <a:lnTo>
                    <a:pt x="3619499" y="108045"/>
                  </a:lnTo>
                  <a:lnTo>
                    <a:pt x="3606921" y="66582"/>
                  </a:lnTo>
                  <a:lnTo>
                    <a:pt x="3571967" y="31627"/>
                  </a:lnTo>
                  <a:lnTo>
                    <a:pt x="3530503" y="19049"/>
                  </a:lnTo>
                  <a:lnTo>
                    <a:pt x="3587436" y="19049"/>
                  </a:lnTo>
                  <a:lnTo>
                    <a:pt x="3619304" y="50786"/>
                  </a:lnTo>
                  <a:lnTo>
                    <a:pt x="3636374" y="91996"/>
                  </a:lnTo>
                  <a:lnTo>
                    <a:pt x="3638549" y="1152524"/>
                  </a:lnTo>
                  <a:lnTo>
                    <a:pt x="3638005" y="1163784"/>
                  </a:lnTo>
                  <a:lnTo>
                    <a:pt x="3625037" y="1206459"/>
                  </a:lnTo>
                  <a:lnTo>
                    <a:pt x="3596725" y="1240924"/>
                  </a:lnTo>
                  <a:lnTo>
                    <a:pt x="3587762" y="1247579"/>
                  </a:lnTo>
                  <a:lnTo>
                    <a:pt x="3587437" y="1247774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43450" y="4581524"/>
              <a:ext cx="304800" cy="26670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360739" y="4959350"/>
            <a:ext cx="14706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40" dirty="0">
                <a:solidFill>
                  <a:srgbClr val="FFFFFF"/>
                </a:solidFill>
                <a:latin typeface="Trebuchet MS"/>
                <a:cs typeface="Trebuchet MS"/>
              </a:rPr>
              <a:t>Graph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14" dirty="0">
                <a:solidFill>
                  <a:srgbClr val="FFFFFF"/>
                </a:solidFill>
                <a:latin typeface="Trebuchet MS"/>
                <a:cs typeface="Trebuchet MS"/>
              </a:rPr>
              <a:t>Generator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105774" y="4352925"/>
            <a:ext cx="3629025" cy="1266825"/>
            <a:chOff x="8105774" y="4352925"/>
            <a:chExt cx="3629025" cy="1266825"/>
          </a:xfrm>
        </p:grpSpPr>
        <p:sp>
          <p:nvSpPr>
            <p:cNvPr id="47" name="object 47"/>
            <p:cNvSpPr/>
            <p:nvPr/>
          </p:nvSpPr>
          <p:spPr>
            <a:xfrm>
              <a:off x="8105774" y="4352925"/>
              <a:ext cx="3629025" cy="1266825"/>
            </a:xfrm>
            <a:custGeom>
              <a:avLst/>
              <a:gdLst/>
              <a:ahLst/>
              <a:cxnLst/>
              <a:rect l="l" t="t" r="r" b="b"/>
              <a:pathLst>
                <a:path w="3629025" h="1266825">
                  <a:moveTo>
                    <a:pt x="3514724" y="1266824"/>
                  </a:moveTo>
                  <a:lnTo>
                    <a:pt x="114299" y="1266824"/>
                  </a:lnTo>
                  <a:lnTo>
                    <a:pt x="103040" y="1266281"/>
                  </a:lnTo>
                  <a:lnTo>
                    <a:pt x="60364" y="1253312"/>
                  </a:lnTo>
                  <a:lnTo>
                    <a:pt x="25900" y="1225000"/>
                  </a:lnTo>
                  <a:lnTo>
                    <a:pt x="4894" y="1185654"/>
                  </a:lnTo>
                  <a:lnTo>
                    <a:pt x="0" y="1152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4" y="8700"/>
                  </a:lnTo>
                  <a:lnTo>
                    <a:pt x="3595546" y="33477"/>
                  </a:lnTo>
                  <a:lnTo>
                    <a:pt x="3620323" y="70559"/>
                  </a:lnTo>
                  <a:lnTo>
                    <a:pt x="3629024" y="114299"/>
                  </a:lnTo>
                  <a:lnTo>
                    <a:pt x="3629024" y="1152524"/>
                  </a:lnTo>
                  <a:lnTo>
                    <a:pt x="3620323" y="1196265"/>
                  </a:lnTo>
                  <a:lnTo>
                    <a:pt x="3595546" y="1233347"/>
                  </a:lnTo>
                  <a:lnTo>
                    <a:pt x="3558464" y="1258124"/>
                  </a:lnTo>
                  <a:lnTo>
                    <a:pt x="3514724" y="12668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105774" y="4352925"/>
              <a:ext cx="3629025" cy="1266825"/>
            </a:xfrm>
            <a:custGeom>
              <a:avLst/>
              <a:gdLst/>
              <a:ahLst/>
              <a:cxnLst/>
              <a:rect l="l" t="t" r="r" b="b"/>
              <a:pathLst>
                <a:path w="3629025" h="1266825">
                  <a:moveTo>
                    <a:pt x="3514724" y="1266824"/>
                  </a:moveTo>
                  <a:lnTo>
                    <a:pt x="114299" y="1266824"/>
                  </a:lnTo>
                  <a:lnTo>
                    <a:pt x="103040" y="1266281"/>
                  </a:lnTo>
                  <a:lnTo>
                    <a:pt x="60364" y="1253312"/>
                  </a:lnTo>
                  <a:lnTo>
                    <a:pt x="25900" y="1225000"/>
                  </a:lnTo>
                  <a:lnTo>
                    <a:pt x="4894" y="1185654"/>
                  </a:lnTo>
                  <a:lnTo>
                    <a:pt x="0" y="1152524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3514724" y="0"/>
                  </a:lnTo>
                  <a:lnTo>
                    <a:pt x="3558464" y="8700"/>
                  </a:lnTo>
                  <a:lnTo>
                    <a:pt x="3577911" y="19049"/>
                  </a:lnTo>
                  <a:lnTo>
                    <a:pt x="108045" y="19049"/>
                  </a:lnTo>
                  <a:lnTo>
                    <a:pt x="101851" y="19660"/>
                  </a:lnTo>
                  <a:lnTo>
                    <a:pt x="56181" y="38577"/>
                  </a:lnTo>
                  <a:lnTo>
                    <a:pt x="28693" y="72071"/>
                  </a:lnTo>
                  <a:lnTo>
                    <a:pt x="19049" y="108045"/>
                  </a:lnTo>
                  <a:lnTo>
                    <a:pt x="19049" y="1158779"/>
                  </a:lnTo>
                  <a:lnTo>
                    <a:pt x="31627" y="1200242"/>
                  </a:lnTo>
                  <a:lnTo>
                    <a:pt x="66582" y="1235196"/>
                  </a:lnTo>
                  <a:lnTo>
                    <a:pt x="108045" y="1247774"/>
                  </a:lnTo>
                  <a:lnTo>
                    <a:pt x="3577912" y="1247774"/>
                  </a:lnTo>
                  <a:lnTo>
                    <a:pt x="3568659" y="1253312"/>
                  </a:lnTo>
                  <a:lnTo>
                    <a:pt x="3558464" y="1258124"/>
                  </a:lnTo>
                  <a:lnTo>
                    <a:pt x="3547854" y="1261930"/>
                  </a:lnTo>
                  <a:lnTo>
                    <a:pt x="3537027" y="1264649"/>
                  </a:lnTo>
                  <a:lnTo>
                    <a:pt x="3525984" y="1266281"/>
                  </a:lnTo>
                  <a:lnTo>
                    <a:pt x="3514724" y="1266824"/>
                  </a:lnTo>
                  <a:close/>
                </a:path>
                <a:path w="3629025" h="1266825">
                  <a:moveTo>
                    <a:pt x="3577912" y="1247774"/>
                  </a:moveTo>
                  <a:lnTo>
                    <a:pt x="3520978" y="1247774"/>
                  </a:lnTo>
                  <a:lnTo>
                    <a:pt x="3527172" y="1247164"/>
                  </a:lnTo>
                  <a:lnTo>
                    <a:pt x="3539440" y="1244724"/>
                  </a:lnTo>
                  <a:lnTo>
                    <a:pt x="3577653" y="1224298"/>
                  </a:lnTo>
                  <a:lnTo>
                    <a:pt x="3605116" y="1183197"/>
                  </a:lnTo>
                  <a:lnTo>
                    <a:pt x="3609974" y="1158779"/>
                  </a:lnTo>
                  <a:lnTo>
                    <a:pt x="3609974" y="108045"/>
                  </a:lnTo>
                  <a:lnTo>
                    <a:pt x="3609481" y="103040"/>
                  </a:lnTo>
                  <a:lnTo>
                    <a:pt x="3609364" y="101851"/>
                  </a:lnTo>
                  <a:lnTo>
                    <a:pt x="3590447" y="56181"/>
                  </a:lnTo>
                  <a:lnTo>
                    <a:pt x="3556952" y="28693"/>
                  </a:lnTo>
                  <a:lnTo>
                    <a:pt x="3520978" y="19049"/>
                  </a:lnTo>
                  <a:lnTo>
                    <a:pt x="3577911" y="19049"/>
                  </a:lnTo>
                  <a:lnTo>
                    <a:pt x="3609779" y="50786"/>
                  </a:lnTo>
                  <a:lnTo>
                    <a:pt x="3626849" y="91996"/>
                  </a:lnTo>
                  <a:lnTo>
                    <a:pt x="3629024" y="1152524"/>
                  </a:lnTo>
                  <a:lnTo>
                    <a:pt x="3628480" y="1163784"/>
                  </a:lnTo>
                  <a:lnTo>
                    <a:pt x="3615512" y="1206459"/>
                  </a:lnTo>
                  <a:lnTo>
                    <a:pt x="3587200" y="1240924"/>
                  </a:lnTo>
                  <a:lnTo>
                    <a:pt x="3578237" y="1247579"/>
                  </a:lnTo>
                  <a:lnTo>
                    <a:pt x="3577912" y="1247774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66250" y="4559299"/>
              <a:ext cx="304800" cy="31115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9161660" y="4959350"/>
            <a:ext cx="1513840" cy="438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110" dirty="0">
                <a:solidFill>
                  <a:srgbClr val="FFFFFF"/>
                </a:solidFill>
                <a:latin typeface="Trebuchet MS"/>
                <a:cs typeface="Trebuchet MS"/>
              </a:rPr>
              <a:t>Multi-</a:t>
            </a:r>
            <a:r>
              <a:rPr sz="1200" b="1" spc="165" dirty="0">
                <a:solidFill>
                  <a:srgbClr val="FFFFFF"/>
                </a:solidFill>
                <a:latin typeface="Trebuchet MS"/>
                <a:cs typeface="Trebuchet MS"/>
              </a:rPr>
              <a:t>Cam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Fusion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sz="9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Homography</a:t>
            </a:r>
            <a:r>
              <a:rPr sz="9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90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Projection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798709" cy="68487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363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30"/>
              </a:spcBef>
            </a:pPr>
            <a:r>
              <a:rPr sz="3450" spc="420" dirty="0"/>
              <a:t>Multi-</a:t>
            </a:r>
            <a:r>
              <a:rPr sz="3450" spc="505" dirty="0"/>
              <a:t>Camera</a:t>
            </a:r>
            <a:r>
              <a:rPr sz="3450" spc="330" dirty="0"/>
              <a:t> </a:t>
            </a:r>
            <a:r>
              <a:rPr sz="3450" spc="415" dirty="0"/>
              <a:t>Fusion</a:t>
            </a:r>
            <a:endParaRPr sz="3450"/>
          </a:p>
        </p:txBody>
      </p:sp>
      <p:grpSp>
        <p:nvGrpSpPr>
          <p:cNvPr id="4" name="object 4"/>
          <p:cNvGrpSpPr/>
          <p:nvPr/>
        </p:nvGrpSpPr>
        <p:grpSpPr>
          <a:xfrm>
            <a:off x="553064" y="1677628"/>
            <a:ext cx="5116195" cy="4618355"/>
            <a:chOff x="553064" y="1677628"/>
            <a:chExt cx="5116195" cy="46183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064" y="1677628"/>
              <a:ext cx="5115846" cy="46180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8335" y="4070861"/>
              <a:ext cx="165100" cy="952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26632" y="4727472"/>
              <a:ext cx="368300" cy="37147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30568" y="5195323"/>
            <a:ext cx="1960880" cy="455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b="1" spc="114" dirty="0">
                <a:solidFill>
                  <a:srgbClr val="FFFFFF"/>
                </a:solidFill>
                <a:latin typeface="Trebuchet MS"/>
                <a:cs typeface="Trebuchet MS"/>
              </a:rPr>
              <a:t>Unified</a:t>
            </a:r>
            <a:r>
              <a:rPr sz="13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140" dirty="0">
                <a:solidFill>
                  <a:srgbClr val="FFFFFF"/>
                </a:solidFill>
                <a:latin typeface="Trebuchet MS"/>
                <a:cs typeface="Trebuchet MS"/>
              </a:rPr>
              <a:t>Global</a:t>
            </a:r>
            <a:r>
              <a:rPr sz="130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155" dirty="0">
                <a:solidFill>
                  <a:srgbClr val="FFFFFF"/>
                </a:solidFill>
                <a:latin typeface="Trebuchet MS"/>
                <a:cs typeface="Trebuchet MS"/>
              </a:rPr>
              <a:t>Space</a:t>
            </a:r>
            <a:endParaRPr sz="1300">
              <a:latin typeface="Trebuchet MS"/>
              <a:cs typeface="Trebuchet MS"/>
            </a:endParaRPr>
          </a:p>
          <a:p>
            <a:pPr marL="73660">
              <a:lnSpc>
                <a:spcPct val="100000"/>
              </a:lnSpc>
              <a:spcBef>
                <a:spcPts val="675"/>
              </a:spcBef>
            </a:pPr>
            <a:r>
              <a:rPr sz="950" dirty="0">
                <a:solidFill>
                  <a:srgbClr val="A0AEBF"/>
                </a:solidFill>
                <a:latin typeface="Microsoft Sans Serif"/>
                <a:cs typeface="Microsoft Sans Serif"/>
              </a:rPr>
              <a:t>DeepSORT</a:t>
            </a:r>
            <a:r>
              <a:rPr sz="9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950" spc="235" dirty="0">
                <a:solidFill>
                  <a:srgbClr val="A0AEBF"/>
                </a:solidFill>
                <a:latin typeface="Microsoft Sans Serif"/>
                <a:cs typeface="Microsoft Sans Serif"/>
              </a:rPr>
              <a:t>+</a:t>
            </a:r>
            <a:r>
              <a:rPr sz="9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950" spc="50" dirty="0">
                <a:solidFill>
                  <a:srgbClr val="A0AEBF"/>
                </a:solidFill>
                <a:latin typeface="Microsoft Sans Serif"/>
                <a:cs typeface="Microsoft Sans Serif"/>
              </a:rPr>
              <a:t>Unified</a:t>
            </a:r>
            <a:r>
              <a:rPr sz="9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</a:t>
            </a:r>
            <a:r>
              <a:rPr sz="9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950" spc="-25" dirty="0">
                <a:solidFill>
                  <a:srgbClr val="A0AEBF"/>
                </a:solidFill>
                <a:latin typeface="Microsoft Sans Serif"/>
                <a:cs typeface="Microsoft Sans Serif"/>
              </a:rPr>
              <a:t>IDs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95434" y="1935725"/>
            <a:ext cx="9750425" cy="4102100"/>
            <a:chOff x="1495434" y="1935725"/>
            <a:chExt cx="9750425" cy="410210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5434" y="2303411"/>
              <a:ext cx="333375" cy="222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37723" y="2303411"/>
              <a:ext cx="333375" cy="2222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87212" y="2303411"/>
              <a:ext cx="333375" cy="2222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148233" y="1935725"/>
              <a:ext cx="5097780" cy="2332355"/>
            </a:xfrm>
            <a:custGeom>
              <a:avLst/>
              <a:gdLst/>
              <a:ahLst/>
              <a:cxnLst/>
              <a:rect l="l" t="t" r="r" b="b"/>
              <a:pathLst>
                <a:path w="5097780" h="2332354">
                  <a:moveTo>
                    <a:pt x="5028510" y="2332088"/>
                  </a:moveTo>
                  <a:lnTo>
                    <a:pt x="51674" y="2332088"/>
                  </a:lnTo>
                  <a:lnTo>
                    <a:pt x="48078" y="2331616"/>
                  </a:lnTo>
                  <a:lnTo>
                    <a:pt x="13631" y="2307066"/>
                  </a:lnTo>
                  <a:lnTo>
                    <a:pt x="354" y="2267983"/>
                  </a:lnTo>
                  <a:lnTo>
                    <a:pt x="0" y="2263188"/>
                  </a:lnTo>
                  <a:lnTo>
                    <a:pt x="0" y="2258346"/>
                  </a:lnTo>
                  <a:lnTo>
                    <a:pt x="0" y="68899"/>
                  </a:lnTo>
                  <a:lnTo>
                    <a:pt x="11338" y="28747"/>
                  </a:lnTo>
                  <a:lnTo>
                    <a:pt x="40954" y="2361"/>
                  </a:lnTo>
                  <a:lnTo>
                    <a:pt x="51674" y="0"/>
                  </a:lnTo>
                  <a:lnTo>
                    <a:pt x="5028510" y="0"/>
                  </a:lnTo>
                  <a:lnTo>
                    <a:pt x="5068663" y="15117"/>
                  </a:lnTo>
                  <a:lnTo>
                    <a:pt x="5093650" y="49995"/>
                  </a:lnTo>
                  <a:lnTo>
                    <a:pt x="5097411" y="68899"/>
                  </a:lnTo>
                  <a:lnTo>
                    <a:pt x="5097411" y="2263188"/>
                  </a:lnTo>
                  <a:lnTo>
                    <a:pt x="5082292" y="2303341"/>
                  </a:lnTo>
                  <a:lnTo>
                    <a:pt x="5047415" y="2328328"/>
                  </a:lnTo>
                  <a:lnTo>
                    <a:pt x="5033305" y="2331616"/>
                  </a:lnTo>
                  <a:lnTo>
                    <a:pt x="5028510" y="2332088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29797" y="1935994"/>
              <a:ext cx="68580" cy="2331720"/>
            </a:xfrm>
            <a:custGeom>
              <a:avLst/>
              <a:gdLst/>
              <a:ahLst/>
              <a:cxnLst/>
              <a:rect l="l" t="t" r="r" b="b"/>
              <a:pathLst>
                <a:path w="68579" h="2331720">
                  <a:moveTo>
                    <a:pt x="68177" y="2331550"/>
                  </a:moveTo>
                  <a:lnTo>
                    <a:pt x="26982" y="2315109"/>
                  </a:lnTo>
                  <a:lnTo>
                    <a:pt x="3156" y="2279451"/>
                  </a:lnTo>
                  <a:lnTo>
                    <a:pt x="0" y="2258077"/>
                  </a:lnTo>
                  <a:lnTo>
                    <a:pt x="0" y="73473"/>
                  </a:lnTo>
                  <a:lnTo>
                    <a:pt x="12415" y="32496"/>
                  </a:lnTo>
                  <a:lnTo>
                    <a:pt x="45521" y="5344"/>
                  </a:lnTo>
                  <a:lnTo>
                    <a:pt x="68176" y="0"/>
                  </a:lnTo>
                  <a:lnTo>
                    <a:pt x="64148" y="1602"/>
                  </a:lnTo>
                  <a:lnTo>
                    <a:pt x="55113" y="9086"/>
                  </a:lnTo>
                  <a:lnTo>
                    <a:pt x="39676" y="45253"/>
                  </a:lnTo>
                  <a:lnTo>
                    <a:pt x="36870" y="73473"/>
                  </a:lnTo>
                  <a:lnTo>
                    <a:pt x="36870" y="2258077"/>
                  </a:lnTo>
                  <a:lnTo>
                    <a:pt x="44212" y="2303306"/>
                  </a:lnTo>
                  <a:lnTo>
                    <a:pt x="64148" y="2329948"/>
                  </a:lnTo>
                  <a:lnTo>
                    <a:pt x="68177" y="2331550"/>
                  </a:lnTo>
                  <a:close/>
                </a:path>
              </a:pathLst>
            </a:custGeom>
            <a:solidFill>
              <a:srgbClr val="00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29797" y="4544346"/>
              <a:ext cx="5116195" cy="1493520"/>
            </a:xfrm>
            <a:custGeom>
              <a:avLst/>
              <a:gdLst/>
              <a:ahLst/>
              <a:cxnLst/>
              <a:rect l="l" t="t" r="r" b="b"/>
              <a:pathLst>
                <a:path w="5116195" h="1493520">
                  <a:moveTo>
                    <a:pt x="5042104" y="1493274"/>
                  </a:moveTo>
                  <a:lnTo>
                    <a:pt x="73741" y="1493274"/>
                  </a:lnTo>
                  <a:lnTo>
                    <a:pt x="66477" y="1492923"/>
                  </a:lnTo>
                  <a:lnTo>
                    <a:pt x="26982" y="1476563"/>
                  </a:lnTo>
                  <a:lnTo>
                    <a:pt x="3156" y="1440906"/>
                  </a:lnTo>
                  <a:lnTo>
                    <a:pt x="0" y="1419532"/>
                  </a:lnTo>
                  <a:lnTo>
                    <a:pt x="0" y="73741"/>
                  </a:lnTo>
                  <a:lnTo>
                    <a:pt x="12415" y="32764"/>
                  </a:lnTo>
                  <a:lnTo>
                    <a:pt x="45520" y="5613"/>
                  </a:lnTo>
                  <a:lnTo>
                    <a:pt x="73741" y="0"/>
                  </a:lnTo>
                  <a:lnTo>
                    <a:pt x="5042104" y="0"/>
                  </a:lnTo>
                  <a:lnTo>
                    <a:pt x="5083080" y="12415"/>
                  </a:lnTo>
                  <a:lnTo>
                    <a:pt x="5110232" y="45521"/>
                  </a:lnTo>
                  <a:lnTo>
                    <a:pt x="5115846" y="73741"/>
                  </a:lnTo>
                  <a:lnTo>
                    <a:pt x="5115846" y="1419532"/>
                  </a:lnTo>
                  <a:lnTo>
                    <a:pt x="5103429" y="1460507"/>
                  </a:lnTo>
                  <a:lnTo>
                    <a:pt x="5070323" y="1487660"/>
                  </a:lnTo>
                  <a:lnTo>
                    <a:pt x="5042104" y="1493274"/>
                  </a:lnTo>
                  <a:close/>
                </a:path>
              </a:pathLst>
            </a:custGeom>
            <a:solidFill>
              <a:srgbClr val="00D4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29797" y="4544346"/>
              <a:ext cx="5116195" cy="1493520"/>
            </a:xfrm>
            <a:custGeom>
              <a:avLst/>
              <a:gdLst/>
              <a:ahLst/>
              <a:cxnLst/>
              <a:rect l="l" t="t" r="r" b="b"/>
              <a:pathLst>
                <a:path w="5116195" h="1493520">
                  <a:moveTo>
                    <a:pt x="5042104" y="1493274"/>
                  </a:moveTo>
                  <a:lnTo>
                    <a:pt x="73741" y="1493274"/>
                  </a:lnTo>
                  <a:lnTo>
                    <a:pt x="66477" y="1492923"/>
                  </a:lnTo>
                  <a:lnTo>
                    <a:pt x="26982" y="1476563"/>
                  </a:lnTo>
                  <a:lnTo>
                    <a:pt x="3156" y="1440906"/>
                  </a:lnTo>
                  <a:lnTo>
                    <a:pt x="0" y="73741"/>
                  </a:lnTo>
                  <a:lnTo>
                    <a:pt x="350" y="66477"/>
                  </a:lnTo>
                  <a:lnTo>
                    <a:pt x="16709" y="26982"/>
                  </a:lnTo>
                  <a:lnTo>
                    <a:pt x="52366" y="3157"/>
                  </a:lnTo>
                  <a:lnTo>
                    <a:pt x="73741" y="0"/>
                  </a:lnTo>
                  <a:lnTo>
                    <a:pt x="5042104" y="0"/>
                  </a:lnTo>
                  <a:lnTo>
                    <a:pt x="5083080" y="12415"/>
                  </a:lnTo>
                  <a:lnTo>
                    <a:pt x="5090763" y="18435"/>
                  </a:lnTo>
                  <a:lnTo>
                    <a:pt x="70110" y="18435"/>
                  </a:lnTo>
                  <a:lnTo>
                    <a:pt x="66513" y="18789"/>
                  </a:lnTo>
                  <a:lnTo>
                    <a:pt x="32066" y="37202"/>
                  </a:lnTo>
                  <a:lnTo>
                    <a:pt x="18435" y="70110"/>
                  </a:lnTo>
                  <a:lnTo>
                    <a:pt x="18435" y="1423163"/>
                  </a:lnTo>
                  <a:lnTo>
                    <a:pt x="37202" y="1461207"/>
                  </a:lnTo>
                  <a:lnTo>
                    <a:pt x="70110" y="1474838"/>
                  </a:lnTo>
                  <a:lnTo>
                    <a:pt x="5090762" y="1474838"/>
                  </a:lnTo>
                  <a:lnTo>
                    <a:pt x="5088862" y="1476563"/>
                  </a:lnTo>
                  <a:lnTo>
                    <a:pt x="5049368" y="1492923"/>
                  </a:lnTo>
                  <a:lnTo>
                    <a:pt x="5042104" y="1493274"/>
                  </a:lnTo>
                  <a:close/>
                </a:path>
                <a:path w="5116195" h="1493520">
                  <a:moveTo>
                    <a:pt x="5090762" y="1474838"/>
                  </a:moveTo>
                  <a:lnTo>
                    <a:pt x="5045735" y="1474838"/>
                  </a:lnTo>
                  <a:lnTo>
                    <a:pt x="5049332" y="1474484"/>
                  </a:lnTo>
                  <a:lnTo>
                    <a:pt x="5056455" y="1473066"/>
                  </a:lnTo>
                  <a:lnTo>
                    <a:pt x="5090106" y="1447238"/>
                  </a:lnTo>
                  <a:lnTo>
                    <a:pt x="5097410" y="1423163"/>
                  </a:lnTo>
                  <a:lnTo>
                    <a:pt x="5097410" y="70110"/>
                  </a:lnTo>
                  <a:lnTo>
                    <a:pt x="5078643" y="32066"/>
                  </a:lnTo>
                  <a:lnTo>
                    <a:pt x="5045735" y="18435"/>
                  </a:lnTo>
                  <a:lnTo>
                    <a:pt x="5090763" y="18435"/>
                  </a:lnTo>
                  <a:lnTo>
                    <a:pt x="5112687" y="52367"/>
                  </a:lnTo>
                  <a:lnTo>
                    <a:pt x="5115846" y="73741"/>
                  </a:lnTo>
                  <a:lnTo>
                    <a:pt x="5115846" y="1419532"/>
                  </a:lnTo>
                  <a:lnTo>
                    <a:pt x="5103428" y="1460507"/>
                  </a:lnTo>
                  <a:lnTo>
                    <a:pt x="5094247" y="1471675"/>
                  </a:lnTo>
                  <a:lnTo>
                    <a:pt x="5090762" y="1474838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43201" y="2268383"/>
              <a:ext cx="228600" cy="1778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333810" y="2622065"/>
            <a:ext cx="655320" cy="4533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sz="10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0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00" spc="40" dirty="0">
                <a:solidFill>
                  <a:srgbClr val="A0AEBF"/>
                </a:solidFill>
                <a:latin typeface="Microsoft Sans Serif"/>
                <a:cs typeface="Microsoft Sans Serif"/>
              </a:rPr>
              <a:t>1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800" dirty="0">
                <a:solidFill>
                  <a:srgbClr val="00D4FF"/>
                </a:solidFill>
                <a:latin typeface="Microsoft Sans Serif"/>
                <a:cs typeface="Microsoft Sans Serif"/>
              </a:rPr>
              <a:t>H₁</a:t>
            </a:r>
            <a:r>
              <a:rPr sz="800" spc="114" dirty="0">
                <a:solidFill>
                  <a:srgbClr val="00D4FF"/>
                </a:solidFill>
                <a:latin typeface="Microsoft Sans Serif"/>
                <a:cs typeface="Microsoft Sans Serif"/>
              </a:rPr>
              <a:t> </a:t>
            </a:r>
            <a:r>
              <a:rPr sz="800" spc="40" dirty="0">
                <a:solidFill>
                  <a:srgbClr val="00D4FF"/>
                </a:solidFill>
                <a:latin typeface="Microsoft Sans Serif"/>
                <a:cs typeface="Microsoft Sans Serif"/>
              </a:rPr>
              <a:t>Matrix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76098" y="2622065"/>
            <a:ext cx="655320" cy="4533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sz="10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0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00" spc="40" dirty="0">
                <a:solidFill>
                  <a:srgbClr val="A0AEBF"/>
                </a:solidFill>
                <a:latin typeface="Microsoft Sans Serif"/>
                <a:cs typeface="Microsoft Sans Serif"/>
              </a:rPr>
              <a:t>2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800" dirty="0">
                <a:solidFill>
                  <a:srgbClr val="00D4FF"/>
                </a:solidFill>
                <a:latin typeface="Microsoft Sans Serif"/>
                <a:cs typeface="Microsoft Sans Serif"/>
              </a:rPr>
              <a:t>H₂</a:t>
            </a:r>
            <a:r>
              <a:rPr sz="800" spc="114" dirty="0">
                <a:solidFill>
                  <a:srgbClr val="00D4FF"/>
                </a:solidFill>
                <a:latin typeface="Microsoft Sans Serif"/>
                <a:cs typeface="Microsoft Sans Serif"/>
              </a:rPr>
              <a:t> </a:t>
            </a:r>
            <a:r>
              <a:rPr sz="800" spc="40" dirty="0">
                <a:solidFill>
                  <a:srgbClr val="00D4FF"/>
                </a:solidFill>
                <a:latin typeface="Microsoft Sans Serif"/>
                <a:cs typeface="Microsoft Sans Serif"/>
              </a:rPr>
              <a:t>Matrix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18387" y="2622065"/>
            <a:ext cx="669925" cy="45339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sz="10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0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00" spc="-50" dirty="0">
                <a:solidFill>
                  <a:srgbClr val="A0AEBF"/>
                </a:solidFill>
                <a:latin typeface="Microsoft Sans Serif"/>
                <a:cs typeface="Microsoft Sans Serif"/>
              </a:rPr>
              <a:t>N</a:t>
            </a:r>
            <a:endParaRPr sz="10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800" dirty="0">
                <a:solidFill>
                  <a:srgbClr val="00D4FF"/>
                </a:solidFill>
                <a:latin typeface="Microsoft Sans Serif"/>
                <a:cs typeface="Microsoft Sans Serif"/>
              </a:rPr>
              <a:t>Hₙ</a:t>
            </a:r>
            <a:r>
              <a:rPr sz="800" spc="75" dirty="0">
                <a:solidFill>
                  <a:srgbClr val="00D4FF"/>
                </a:solidFill>
                <a:latin typeface="Microsoft Sans Serif"/>
                <a:cs typeface="Microsoft Sans Serif"/>
              </a:rPr>
              <a:t> </a:t>
            </a:r>
            <a:r>
              <a:rPr sz="800" spc="40" dirty="0">
                <a:solidFill>
                  <a:srgbClr val="00D4FF"/>
                </a:solidFill>
                <a:latin typeface="Microsoft Sans Serif"/>
                <a:cs typeface="Microsoft Sans Serif"/>
              </a:rPr>
              <a:t>Matrix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50818" y="2217993"/>
            <a:ext cx="17303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55" dirty="0">
                <a:solidFill>
                  <a:srgbClr val="00D4FF"/>
                </a:solidFill>
                <a:latin typeface="Trebuchet MS"/>
                <a:cs typeface="Trebuchet MS"/>
              </a:rPr>
              <a:t>Fusion</a:t>
            </a:r>
            <a:r>
              <a:rPr sz="1600" b="1" spc="8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00" b="1" spc="175" dirty="0">
                <a:solidFill>
                  <a:srgbClr val="00D4FF"/>
                </a:solidFill>
                <a:latin typeface="Trebuchet MS"/>
                <a:cs typeface="Trebuchet MS"/>
              </a:rPr>
              <a:t>Process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30501" y="2625417"/>
            <a:ext cx="4288155" cy="560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0970">
              <a:lnSpc>
                <a:spcPct val="152500"/>
              </a:lnSpc>
              <a:spcBef>
                <a:spcPts val="95"/>
              </a:spcBef>
              <a:buClr>
                <a:srgbClr val="00D4FF"/>
              </a:buClr>
              <a:buFont typeface="Trebuchet MS"/>
              <a:buChar char="•"/>
              <a:tabLst>
                <a:tab pos="153670" algn="l"/>
              </a:tabLst>
            </a:pPr>
            <a:r>
              <a:rPr sz="1150" dirty="0">
                <a:solidFill>
                  <a:srgbClr val="A0AEBF"/>
                </a:solidFill>
                <a:latin typeface="Microsoft Sans Serif"/>
                <a:cs typeface="Microsoft Sans Serif"/>
              </a:rPr>
              <a:t>Each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has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a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160" dirty="0">
                <a:solidFill>
                  <a:srgbClr val="A0AEBF"/>
                </a:solidFill>
                <a:latin typeface="Microsoft Sans Serif"/>
                <a:cs typeface="Microsoft Sans Serif"/>
              </a:rPr>
              <a:t>3×3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homography </a:t>
            </a:r>
            <a:r>
              <a:rPr sz="11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mapping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image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-50" dirty="0">
                <a:solidFill>
                  <a:srgbClr val="A0AEBF"/>
                </a:solidFill>
                <a:latin typeface="Microsoft Sans Serif"/>
                <a:cs typeface="Microsoft Sans Serif"/>
              </a:rPr>
              <a:t>→ </a:t>
            </a:r>
            <a:r>
              <a:rPr sz="11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world</a:t>
            </a:r>
            <a:r>
              <a:rPr sz="11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plane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30501" y="3360993"/>
            <a:ext cx="4022090" cy="580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3670" indent="-140970">
              <a:lnSpc>
                <a:spcPct val="100000"/>
              </a:lnSpc>
              <a:spcBef>
                <a:spcPts val="110"/>
              </a:spcBef>
              <a:buClr>
                <a:srgbClr val="00D4FF"/>
              </a:buClr>
              <a:buFont typeface="Trebuchet MS"/>
              <a:buChar char="•"/>
              <a:tabLst>
                <a:tab pos="153670" algn="l"/>
              </a:tabLst>
            </a:pPr>
            <a:r>
              <a:rPr sz="1150" dirty="0">
                <a:solidFill>
                  <a:srgbClr val="A0AEBF"/>
                </a:solidFill>
                <a:latin typeface="Microsoft Sans Serif"/>
                <a:cs typeface="Microsoft Sans Serif"/>
              </a:rPr>
              <a:t>All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detections</a:t>
            </a:r>
            <a:r>
              <a:rPr sz="11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projected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into</a:t>
            </a:r>
            <a:r>
              <a:rPr sz="11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a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b="1" spc="135" dirty="0">
                <a:solidFill>
                  <a:srgbClr val="FFFFFF"/>
                </a:solidFill>
                <a:latin typeface="Trebuchet MS"/>
                <a:cs typeface="Trebuchet MS"/>
              </a:rPr>
              <a:t>single</a:t>
            </a:r>
            <a:r>
              <a:rPr sz="1150" b="1" spc="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35" dirty="0">
                <a:solidFill>
                  <a:srgbClr val="FFFFFF"/>
                </a:solidFill>
                <a:latin typeface="Trebuchet MS"/>
                <a:cs typeface="Trebuchet MS"/>
              </a:rPr>
              <a:t>global</a:t>
            </a:r>
            <a:r>
              <a:rPr sz="1150" b="1" spc="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50" b="1" spc="135" dirty="0">
                <a:solidFill>
                  <a:srgbClr val="FFFFFF"/>
                </a:solidFill>
                <a:latin typeface="Trebuchet MS"/>
                <a:cs typeface="Trebuchet MS"/>
              </a:rPr>
              <a:t>space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00D4FF"/>
              </a:buClr>
              <a:buFont typeface="Trebuchet MS"/>
              <a:buChar char="•"/>
            </a:pPr>
            <a:endParaRPr sz="1150">
              <a:latin typeface="Trebuchet MS"/>
              <a:cs typeface="Trebuchet MS"/>
            </a:endParaRPr>
          </a:p>
          <a:p>
            <a:pPr marL="153670" indent="-140970">
              <a:lnSpc>
                <a:spcPct val="100000"/>
              </a:lnSpc>
              <a:buClr>
                <a:srgbClr val="00D4FF"/>
              </a:buClr>
              <a:buFont typeface="Trebuchet MS"/>
              <a:buChar char="•"/>
              <a:tabLst>
                <a:tab pos="153670" algn="l"/>
              </a:tabLst>
            </a:pPr>
            <a:r>
              <a:rPr sz="1150" dirty="0">
                <a:solidFill>
                  <a:srgbClr val="A0AEBF"/>
                </a:solidFill>
                <a:latin typeface="Microsoft Sans Serif"/>
                <a:cs typeface="Microsoft Sans Serif"/>
              </a:rPr>
              <a:t>DeepSORT</a:t>
            </a:r>
            <a:r>
              <a:rPr sz="11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runs</a:t>
            </a:r>
            <a:r>
              <a:rPr sz="1150" spc="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globally</a:t>
            </a:r>
            <a:r>
              <a:rPr sz="11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-190" dirty="0">
                <a:solidFill>
                  <a:srgbClr val="A0AEBF"/>
                </a:solidFill>
                <a:latin typeface="Microsoft Sans Serif"/>
                <a:cs typeface="Microsoft Sans Serif"/>
              </a:rPr>
              <a:t>→</a:t>
            </a:r>
            <a:r>
              <a:rPr sz="1150" spc="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unified</a:t>
            </a:r>
            <a:r>
              <a:rPr sz="11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</a:t>
            </a:r>
            <a:r>
              <a:rPr sz="1150" spc="10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-25" dirty="0">
                <a:solidFill>
                  <a:srgbClr val="A0AEBF"/>
                </a:solidFill>
                <a:latin typeface="Microsoft Sans Serif"/>
                <a:cs typeface="Microsoft Sans Serif"/>
              </a:rPr>
              <a:t>IDs</a:t>
            </a:r>
            <a:endParaRPr sz="11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42509" y="4798961"/>
            <a:ext cx="88201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130" dirty="0">
                <a:solidFill>
                  <a:srgbClr val="FFFFFF"/>
                </a:solidFill>
                <a:latin typeface="Trebuchet MS"/>
                <a:cs typeface="Trebuchet MS"/>
              </a:rPr>
              <a:t>Benefits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587202" y="5232194"/>
            <a:ext cx="144081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Larger</a:t>
            </a:r>
            <a:r>
              <a:rPr sz="10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effective</a:t>
            </a:r>
            <a:r>
              <a:rPr sz="10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50" spc="-25" dirty="0">
                <a:solidFill>
                  <a:srgbClr val="A0AEBF"/>
                </a:solidFill>
                <a:latin typeface="Microsoft Sans Serif"/>
                <a:cs typeface="Microsoft Sans Serif"/>
              </a:rPr>
              <a:t>FOV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002251" y="5232194"/>
            <a:ext cx="123634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Fewer</a:t>
            </a:r>
            <a:r>
              <a:rPr sz="10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blind</a:t>
            </a:r>
            <a:r>
              <a:rPr sz="10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spots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42509" y="5573251"/>
            <a:ext cx="1190625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Better</a:t>
            </a:r>
            <a:r>
              <a:rPr sz="10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continuity</a:t>
            </a:r>
            <a:endParaRPr sz="105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983815" y="5573251"/>
            <a:ext cx="1111250" cy="19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Robust</a:t>
            </a:r>
            <a:r>
              <a:rPr sz="10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tracking</a:t>
            </a:r>
            <a:endParaRPr sz="1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733530" cy="6856730"/>
            <a:chOff x="0" y="0"/>
            <a:chExt cx="11733530" cy="6856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733104" cy="68565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39991" y="1209976"/>
              <a:ext cx="733425" cy="36830"/>
            </a:xfrm>
            <a:custGeom>
              <a:avLst/>
              <a:gdLst/>
              <a:ahLst/>
              <a:cxnLst/>
              <a:rect l="l" t="t" r="r" b="b"/>
              <a:pathLst>
                <a:path w="733425" h="36830">
                  <a:moveTo>
                    <a:pt x="733319" y="36665"/>
                  </a:moveTo>
                  <a:lnTo>
                    <a:pt x="0" y="36665"/>
                  </a:lnTo>
                  <a:lnTo>
                    <a:pt x="0" y="0"/>
                  </a:lnTo>
                  <a:lnTo>
                    <a:pt x="733319" y="0"/>
                  </a:lnTo>
                  <a:lnTo>
                    <a:pt x="733319" y="36665"/>
                  </a:lnTo>
                  <a:close/>
                </a:path>
              </a:pathLst>
            </a:custGeom>
            <a:solidFill>
              <a:srgbClr val="00D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3450" spc="254" dirty="0"/>
              <a:t>Tech</a:t>
            </a:r>
            <a:r>
              <a:rPr sz="3450" spc="320" dirty="0"/>
              <a:t> </a:t>
            </a:r>
            <a:r>
              <a:rPr sz="3450" spc="475" dirty="0"/>
              <a:t>Stack</a:t>
            </a:r>
            <a:endParaRPr sz="3450"/>
          </a:p>
        </p:txBody>
      </p:sp>
      <p:grpSp>
        <p:nvGrpSpPr>
          <p:cNvPr id="6" name="object 6"/>
          <p:cNvGrpSpPr/>
          <p:nvPr/>
        </p:nvGrpSpPr>
        <p:grpSpPr>
          <a:xfrm>
            <a:off x="439991" y="1704966"/>
            <a:ext cx="2548890" cy="1503680"/>
            <a:chOff x="439991" y="1704966"/>
            <a:chExt cx="2548890" cy="1503680"/>
          </a:xfrm>
        </p:grpSpPr>
        <p:sp>
          <p:nvSpPr>
            <p:cNvPr id="7" name="object 7"/>
            <p:cNvSpPr/>
            <p:nvPr/>
          </p:nvSpPr>
          <p:spPr>
            <a:xfrm>
              <a:off x="439991" y="17049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80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39910" y="1435400"/>
                  </a:lnTo>
                  <a:lnTo>
                    <a:pt x="2516066" y="1471086"/>
                  </a:lnTo>
                  <a:lnTo>
                    <a:pt x="2480379" y="1494930"/>
                  </a:lnTo>
                  <a:lnTo>
                    <a:pt x="2438285" y="150330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9991" y="17049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80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49121" y="523"/>
                  </a:lnTo>
                  <a:lnTo>
                    <a:pt x="2459749" y="2093"/>
                  </a:lnTo>
                  <a:lnTo>
                    <a:pt x="2470168" y="4709"/>
                  </a:lnTo>
                  <a:lnTo>
                    <a:pt x="2480379" y="8373"/>
                  </a:lnTo>
                  <a:lnTo>
                    <a:pt x="2482061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1399926"/>
                  </a:lnTo>
                  <a:lnTo>
                    <a:pt x="19375" y="1438009"/>
                  </a:lnTo>
                  <a:lnTo>
                    <a:pt x="43380" y="1469286"/>
                  </a:lnTo>
                  <a:lnTo>
                    <a:pt x="77528" y="1488995"/>
                  </a:lnTo>
                  <a:lnTo>
                    <a:pt x="103377" y="1494137"/>
                  </a:lnTo>
                  <a:lnTo>
                    <a:pt x="2482061" y="1494137"/>
                  </a:lnTo>
                  <a:lnTo>
                    <a:pt x="2480379" y="1494930"/>
                  </a:lnTo>
                  <a:lnTo>
                    <a:pt x="2470168" y="1498594"/>
                  </a:lnTo>
                  <a:lnTo>
                    <a:pt x="2459749" y="1501210"/>
                  </a:lnTo>
                  <a:lnTo>
                    <a:pt x="2449121" y="1502780"/>
                  </a:lnTo>
                  <a:lnTo>
                    <a:pt x="2438285" y="1503304"/>
                  </a:lnTo>
                  <a:close/>
                </a:path>
                <a:path w="2548890" h="1503680">
                  <a:moveTo>
                    <a:pt x="2482061" y="1494137"/>
                  </a:moveTo>
                  <a:lnTo>
                    <a:pt x="2444906" y="1494137"/>
                  </a:lnTo>
                  <a:lnTo>
                    <a:pt x="2451463" y="1493491"/>
                  </a:lnTo>
                  <a:lnTo>
                    <a:pt x="2464450" y="1490908"/>
                  </a:lnTo>
                  <a:lnTo>
                    <a:pt x="2499809" y="1473466"/>
                  </a:lnTo>
                  <a:lnTo>
                    <a:pt x="2525802" y="1443820"/>
                  </a:lnTo>
                  <a:lnTo>
                    <a:pt x="2538471" y="1406483"/>
                  </a:lnTo>
                  <a:lnTo>
                    <a:pt x="2539117" y="1399926"/>
                  </a:lnTo>
                  <a:lnTo>
                    <a:pt x="2539117" y="103377"/>
                  </a:lnTo>
                  <a:lnTo>
                    <a:pt x="2528908" y="65294"/>
                  </a:lnTo>
                  <a:lnTo>
                    <a:pt x="2504903" y="34017"/>
                  </a:lnTo>
                  <a:lnTo>
                    <a:pt x="2470755" y="14308"/>
                  </a:lnTo>
                  <a:lnTo>
                    <a:pt x="2444906" y="9166"/>
                  </a:lnTo>
                  <a:lnTo>
                    <a:pt x="2482061" y="9166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47760" y="1404142"/>
                  </a:lnTo>
                  <a:lnTo>
                    <a:pt x="2535280" y="1445211"/>
                  </a:lnTo>
                  <a:lnTo>
                    <a:pt x="2508033" y="1478378"/>
                  </a:lnTo>
                  <a:lnTo>
                    <a:pt x="2490190" y="1490300"/>
                  </a:lnTo>
                  <a:lnTo>
                    <a:pt x="2482061" y="1494137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1637" y="1953996"/>
              <a:ext cx="393700" cy="4000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39699" y="2489751"/>
            <a:ext cx="11487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150" dirty="0">
                <a:solidFill>
                  <a:srgbClr val="FFFFFF"/>
                </a:solidFill>
                <a:latin typeface="Trebuchet MS"/>
                <a:cs typeface="Trebuchet MS"/>
              </a:rPr>
              <a:t>Python</a:t>
            </a:r>
            <a:r>
              <a:rPr sz="1300" b="1" spc="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90" dirty="0">
                <a:solidFill>
                  <a:srgbClr val="FFFFFF"/>
                </a:solidFill>
                <a:latin typeface="Trebuchet MS"/>
                <a:cs typeface="Trebuchet MS"/>
              </a:rPr>
              <a:t>3.10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08270" y="1704966"/>
            <a:ext cx="2548890" cy="1503680"/>
            <a:chOff x="3208270" y="1704966"/>
            <a:chExt cx="2548890" cy="1503680"/>
          </a:xfrm>
        </p:grpSpPr>
        <p:sp>
          <p:nvSpPr>
            <p:cNvPr id="12" name="object 12"/>
            <p:cNvSpPr/>
            <p:nvPr/>
          </p:nvSpPr>
          <p:spPr>
            <a:xfrm>
              <a:off x="3208270" y="17049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80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39910" y="1435400"/>
                  </a:lnTo>
                  <a:lnTo>
                    <a:pt x="2516066" y="1471086"/>
                  </a:lnTo>
                  <a:lnTo>
                    <a:pt x="2480379" y="1494930"/>
                  </a:lnTo>
                  <a:lnTo>
                    <a:pt x="2438285" y="150330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8270" y="17049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80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49121" y="523"/>
                  </a:lnTo>
                  <a:lnTo>
                    <a:pt x="2459749" y="2093"/>
                  </a:lnTo>
                  <a:lnTo>
                    <a:pt x="2470168" y="4709"/>
                  </a:lnTo>
                  <a:lnTo>
                    <a:pt x="2480379" y="8373"/>
                  </a:lnTo>
                  <a:lnTo>
                    <a:pt x="2482061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1399926"/>
                  </a:lnTo>
                  <a:lnTo>
                    <a:pt x="19375" y="1438009"/>
                  </a:lnTo>
                  <a:lnTo>
                    <a:pt x="43380" y="1469286"/>
                  </a:lnTo>
                  <a:lnTo>
                    <a:pt x="77528" y="1488995"/>
                  </a:lnTo>
                  <a:lnTo>
                    <a:pt x="103377" y="1494137"/>
                  </a:lnTo>
                  <a:lnTo>
                    <a:pt x="2482061" y="1494137"/>
                  </a:lnTo>
                  <a:lnTo>
                    <a:pt x="2480379" y="1494930"/>
                  </a:lnTo>
                  <a:lnTo>
                    <a:pt x="2470168" y="1498594"/>
                  </a:lnTo>
                  <a:lnTo>
                    <a:pt x="2459749" y="1501210"/>
                  </a:lnTo>
                  <a:lnTo>
                    <a:pt x="2449121" y="1502780"/>
                  </a:lnTo>
                  <a:lnTo>
                    <a:pt x="2438285" y="1503304"/>
                  </a:lnTo>
                  <a:close/>
                </a:path>
                <a:path w="2548890" h="1503680">
                  <a:moveTo>
                    <a:pt x="2482061" y="1494137"/>
                  </a:moveTo>
                  <a:lnTo>
                    <a:pt x="2444906" y="1494137"/>
                  </a:lnTo>
                  <a:lnTo>
                    <a:pt x="2451463" y="1493491"/>
                  </a:lnTo>
                  <a:lnTo>
                    <a:pt x="2464450" y="1490908"/>
                  </a:lnTo>
                  <a:lnTo>
                    <a:pt x="2499809" y="1473466"/>
                  </a:lnTo>
                  <a:lnTo>
                    <a:pt x="2525802" y="1443820"/>
                  </a:lnTo>
                  <a:lnTo>
                    <a:pt x="2538471" y="1406483"/>
                  </a:lnTo>
                  <a:lnTo>
                    <a:pt x="2539117" y="1399926"/>
                  </a:lnTo>
                  <a:lnTo>
                    <a:pt x="2539117" y="103377"/>
                  </a:lnTo>
                  <a:lnTo>
                    <a:pt x="2528908" y="65294"/>
                  </a:lnTo>
                  <a:lnTo>
                    <a:pt x="2504903" y="34017"/>
                  </a:lnTo>
                  <a:lnTo>
                    <a:pt x="2470755" y="14308"/>
                  </a:lnTo>
                  <a:lnTo>
                    <a:pt x="2444906" y="9166"/>
                  </a:lnTo>
                  <a:lnTo>
                    <a:pt x="2482061" y="9166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47760" y="1404142"/>
                  </a:lnTo>
                  <a:lnTo>
                    <a:pt x="2535280" y="1445211"/>
                  </a:lnTo>
                  <a:lnTo>
                    <a:pt x="2508033" y="1478378"/>
                  </a:lnTo>
                  <a:lnTo>
                    <a:pt x="2490190" y="1490300"/>
                  </a:lnTo>
                  <a:lnTo>
                    <a:pt x="2482061" y="1494137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2417" y="1931771"/>
              <a:ext cx="441325" cy="4445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096464" y="2489751"/>
            <a:ext cx="772160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0"/>
              </a:spcBef>
            </a:pPr>
            <a:r>
              <a:rPr sz="1300" b="1" spc="120" dirty="0">
                <a:solidFill>
                  <a:srgbClr val="FFFFFF"/>
                </a:solidFill>
                <a:latin typeface="Trebuchet MS"/>
                <a:cs typeface="Trebuchet MS"/>
              </a:rPr>
              <a:t>YOLOv8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000" spc="55" dirty="0">
                <a:solidFill>
                  <a:srgbClr val="A0AEBF"/>
                </a:solidFill>
                <a:latin typeface="Microsoft Sans Serif"/>
                <a:cs typeface="Microsoft Sans Serif"/>
              </a:rPr>
              <a:t>(Ultralytics)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976549" y="1704966"/>
            <a:ext cx="2548890" cy="1503680"/>
            <a:chOff x="5976549" y="1704966"/>
            <a:chExt cx="2548890" cy="1503680"/>
          </a:xfrm>
        </p:grpSpPr>
        <p:sp>
          <p:nvSpPr>
            <p:cNvPr id="17" name="object 17"/>
            <p:cNvSpPr/>
            <p:nvPr/>
          </p:nvSpPr>
          <p:spPr>
            <a:xfrm>
              <a:off x="5976549" y="17049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80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39910" y="1435400"/>
                  </a:lnTo>
                  <a:lnTo>
                    <a:pt x="2516066" y="1471086"/>
                  </a:lnTo>
                  <a:lnTo>
                    <a:pt x="2480379" y="1494930"/>
                  </a:lnTo>
                  <a:lnTo>
                    <a:pt x="2438285" y="150330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76549" y="17049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80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49121" y="523"/>
                  </a:lnTo>
                  <a:lnTo>
                    <a:pt x="2459749" y="2093"/>
                  </a:lnTo>
                  <a:lnTo>
                    <a:pt x="2470168" y="4709"/>
                  </a:lnTo>
                  <a:lnTo>
                    <a:pt x="2480379" y="8373"/>
                  </a:lnTo>
                  <a:lnTo>
                    <a:pt x="2482061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1399926"/>
                  </a:lnTo>
                  <a:lnTo>
                    <a:pt x="19375" y="1438009"/>
                  </a:lnTo>
                  <a:lnTo>
                    <a:pt x="43380" y="1469286"/>
                  </a:lnTo>
                  <a:lnTo>
                    <a:pt x="77528" y="1488995"/>
                  </a:lnTo>
                  <a:lnTo>
                    <a:pt x="103377" y="1494137"/>
                  </a:lnTo>
                  <a:lnTo>
                    <a:pt x="2482061" y="1494137"/>
                  </a:lnTo>
                  <a:lnTo>
                    <a:pt x="2480379" y="1494930"/>
                  </a:lnTo>
                  <a:lnTo>
                    <a:pt x="2470168" y="1498594"/>
                  </a:lnTo>
                  <a:lnTo>
                    <a:pt x="2459749" y="1501210"/>
                  </a:lnTo>
                  <a:lnTo>
                    <a:pt x="2449121" y="1502780"/>
                  </a:lnTo>
                  <a:lnTo>
                    <a:pt x="2438285" y="1503304"/>
                  </a:lnTo>
                  <a:close/>
                </a:path>
                <a:path w="2548890" h="1503680">
                  <a:moveTo>
                    <a:pt x="2482061" y="1494137"/>
                  </a:moveTo>
                  <a:lnTo>
                    <a:pt x="2444906" y="1494137"/>
                  </a:lnTo>
                  <a:lnTo>
                    <a:pt x="2451463" y="1493491"/>
                  </a:lnTo>
                  <a:lnTo>
                    <a:pt x="2464450" y="1490908"/>
                  </a:lnTo>
                  <a:lnTo>
                    <a:pt x="2499809" y="1473466"/>
                  </a:lnTo>
                  <a:lnTo>
                    <a:pt x="2525802" y="1443820"/>
                  </a:lnTo>
                  <a:lnTo>
                    <a:pt x="2538471" y="1406483"/>
                  </a:lnTo>
                  <a:lnTo>
                    <a:pt x="2539117" y="1399926"/>
                  </a:lnTo>
                  <a:lnTo>
                    <a:pt x="2539117" y="103377"/>
                  </a:lnTo>
                  <a:lnTo>
                    <a:pt x="2528908" y="65294"/>
                  </a:lnTo>
                  <a:lnTo>
                    <a:pt x="2504903" y="34017"/>
                  </a:lnTo>
                  <a:lnTo>
                    <a:pt x="2470755" y="14308"/>
                  </a:lnTo>
                  <a:lnTo>
                    <a:pt x="2444906" y="9166"/>
                  </a:lnTo>
                  <a:lnTo>
                    <a:pt x="2482061" y="9166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47760" y="1404142"/>
                  </a:lnTo>
                  <a:lnTo>
                    <a:pt x="2535280" y="1445211"/>
                  </a:lnTo>
                  <a:lnTo>
                    <a:pt x="2508033" y="1478378"/>
                  </a:lnTo>
                  <a:lnTo>
                    <a:pt x="2490190" y="1490300"/>
                  </a:lnTo>
                  <a:lnTo>
                    <a:pt x="2482061" y="1494137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30696" y="1931771"/>
              <a:ext cx="441325" cy="4445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752884" y="2489751"/>
            <a:ext cx="995680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155" dirty="0">
                <a:solidFill>
                  <a:srgbClr val="FFFFFF"/>
                </a:solidFill>
                <a:latin typeface="Trebuchet MS"/>
                <a:cs typeface="Trebuchet MS"/>
              </a:rPr>
              <a:t>DeepSORT</a:t>
            </a:r>
            <a:endParaRPr sz="130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  <a:spcBef>
                <a:spcPts val="760"/>
              </a:spcBef>
            </a:pPr>
            <a:r>
              <a:rPr sz="1000" dirty="0">
                <a:solidFill>
                  <a:srgbClr val="A0AEBF"/>
                </a:solidFill>
                <a:latin typeface="Microsoft Sans Serif"/>
                <a:cs typeface="Microsoft Sans Serif"/>
              </a:rPr>
              <a:t>ReID</a:t>
            </a:r>
            <a:r>
              <a:rPr sz="1000" spc="114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Tracking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744829" y="1704966"/>
            <a:ext cx="2548890" cy="1503680"/>
            <a:chOff x="8744829" y="1704966"/>
            <a:chExt cx="2548890" cy="1503680"/>
          </a:xfrm>
        </p:grpSpPr>
        <p:sp>
          <p:nvSpPr>
            <p:cNvPr id="22" name="object 22"/>
            <p:cNvSpPr/>
            <p:nvPr/>
          </p:nvSpPr>
          <p:spPr>
            <a:xfrm>
              <a:off x="8744829" y="17049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80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39910" y="1435400"/>
                  </a:lnTo>
                  <a:lnTo>
                    <a:pt x="2516066" y="1471086"/>
                  </a:lnTo>
                  <a:lnTo>
                    <a:pt x="2480379" y="1494930"/>
                  </a:lnTo>
                  <a:lnTo>
                    <a:pt x="2438285" y="150330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44829" y="17049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80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49121" y="523"/>
                  </a:lnTo>
                  <a:lnTo>
                    <a:pt x="2459749" y="2093"/>
                  </a:lnTo>
                  <a:lnTo>
                    <a:pt x="2470168" y="4709"/>
                  </a:lnTo>
                  <a:lnTo>
                    <a:pt x="2480379" y="8373"/>
                  </a:lnTo>
                  <a:lnTo>
                    <a:pt x="2482061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1399926"/>
                  </a:lnTo>
                  <a:lnTo>
                    <a:pt x="19375" y="1438009"/>
                  </a:lnTo>
                  <a:lnTo>
                    <a:pt x="43380" y="1469286"/>
                  </a:lnTo>
                  <a:lnTo>
                    <a:pt x="77528" y="1488995"/>
                  </a:lnTo>
                  <a:lnTo>
                    <a:pt x="103377" y="1494137"/>
                  </a:lnTo>
                  <a:lnTo>
                    <a:pt x="2482061" y="1494137"/>
                  </a:lnTo>
                  <a:lnTo>
                    <a:pt x="2480379" y="1494930"/>
                  </a:lnTo>
                  <a:lnTo>
                    <a:pt x="2470168" y="1498594"/>
                  </a:lnTo>
                  <a:lnTo>
                    <a:pt x="2459749" y="1501210"/>
                  </a:lnTo>
                  <a:lnTo>
                    <a:pt x="2449121" y="1502780"/>
                  </a:lnTo>
                  <a:lnTo>
                    <a:pt x="2438285" y="1503304"/>
                  </a:lnTo>
                  <a:close/>
                </a:path>
                <a:path w="2548890" h="1503680">
                  <a:moveTo>
                    <a:pt x="2482061" y="1494137"/>
                  </a:moveTo>
                  <a:lnTo>
                    <a:pt x="2444906" y="1494137"/>
                  </a:lnTo>
                  <a:lnTo>
                    <a:pt x="2451463" y="1493491"/>
                  </a:lnTo>
                  <a:lnTo>
                    <a:pt x="2464450" y="1490908"/>
                  </a:lnTo>
                  <a:lnTo>
                    <a:pt x="2499809" y="1473466"/>
                  </a:lnTo>
                  <a:lnTo>
                    <a:pt x="2525802" y="1443820"/>
                  </a:lnTo>
                  <a:lnTo>
                    <a:pt x="2538471" y="1406483"/>
                  </a:lnTo>
                  <a:lnTo>
                    <a:pt x="2539117" y="1399926"/>
                  </a:lnTo>
                  <a:lnTo>
                    <a:pt x="2539117" y="103377"/>
                  </a:lnTo>
                  <a:lnTo>
                    <a:pt x="2528908" y="65294"/>
                  </a:lnTo>
                  <a:lnTo>
                    <a:pt x="2504903" y="34017"/>
                  </a:lnTo>
                  <a:lnTo>
                    <a:pt x="2470755" y="14308"/>
                  </a:lnTo>
                  <a:lnTo>
                    <a:pt x="2444906" y="9166"/>
                  </a:lnTo>
                  <a:lnTo>
                    <a:pt x="2482061" y="9166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47760" y="1404142"/>
                  </a:lnTo>
                  <a:lnTo>
                    <a:pt x="2535280" y="1445211"/>
                  </a:lnTo>
                  <a:lnTo>
                    <a:pt x="2508033" y="1478378"/>
                  </a:lnTo>
                  <a:lnTo>
                    <a:pt x="2490190" y="1490300"/>
                  </a:lnTo>
                  <a:lnTo>
                    <a:pt x="2482061" y="1494137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68301" y="1960346"/>
              <a:ext cx="504825" cy="3873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9407012" y="2489751"/>
            <a:ext cx="1224280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b="1" spc="150" dirty="0">
                <a:solidFill>
                  <a:srgbClr val="FFFFFF"/>
                </a:solidFill>
                <a:latin typeface="Trebuchet MS"/>
                <a:cs typeface="Trebuchet MS"/>
              </a:rPr>
              <a:t>OpenCV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1000" spc="55" dirty="0">
                <a:solidFill>
                  <a:srgbClr val="A0AEBF"/>
                </a:solidFill>
                <a:latin typeface="Microsoft Sans Serif"/>
                <a:cs typeface="Microsoft Sans Serif"/>
              </a:rPr>
              <a:t>Video</a:t>
            </a:r>
            <a:r>
              <a:rPr sz="1000" spc="13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00" dirty="0">
                <a:solidFill>
                  <a:srgbClr val="A0AEBF"/>
                </a:solidFill>
                <a:latin typeface="Microsoft Sans Serif"/>
                <a:cs typeface="Microsoft Sans Serif"/>
              </a:rPr>
              <a:t>I/O,</a:t>
            </a:r>
            <a:r>
              <a:rPr sz="1000" spc="13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Tracking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9991" y="3428266"/>
            <a:ext cx="2548890" cy="1503680"/>
            <a:chOff x="439991" y="3428266"/>
            <a:chExt cx="2548890" cy="1503680"/>
          </a:xfrm>
        </p:grpSpPr>
        <p:sp>
          <p:nvSpPr>
            <p:cNvPr id="27" name="object 27"/>
            <p:cNvSpPr/>
            <p:nvPr/>
          </p:nvSpPr>
          <p:spPr>
            <a:xfrm>
              <a:off x="439991" y="34282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79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39910" y="1435400"/>
                  </a:lnTo>
                  <a:lnTo>
                    <a:pt x="2516066" y="1471086"/>
                  </a:lnTo>
                  <a:lnTo>
                    <a:pt x="2480379" y="1494930"/>
                  </a:lnTo>
                  <a:lnTo>
                    <a:pt x="2438285" y="150330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9991" y="34282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79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482061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1399926"/>
                  </a:lnTo>
                  <a:lnTo>
                    <a:pt x="19375" y="1438009"/>
                  </a:lnTo>
                  <a:lnTo>
                    <a:pt x="43380" y="1469286"/>
                  </a:lnTo>
                  <a:lnTo>
                    <a:pt x="77528" y="1488995"/>
                  </a:lnTo>
                  <a:lnTo>
                    <a:pt x="103377" y="1494137"/>
                  </a:lnTo>
                  <a:lnTo>
                    <a:pt x="2482060" y="1494137"/>
                  </a:lnTo>
                  <a:lnTo>
                    <a:pt x="2480379" y="1494930"/>
                  </a:lnTo>
                  <a:lnTo>
                    <a:pt x="2470168" y="1498594"/>
                  </a:lnTo>
                  <a:lnTo>
                    <a:pt x="2459748" y="1501210"/>
                  </a:lnTo>
                  <a:lnTo>
                    <a:pt x="2449121" y="1502780"/>
                  </a:lnTo>
                  <a:lnTo>
                    <a:pt x="2438285" y="1503304"/>
                  </a:lnTo>
                  <a:close/>
                </a:path>
                <a:path w="2548890" h="1503679">
                  <a:moveTo>
                    <a:pt x="2482060" y="1494137"/>
                  </a:moveTo>
                  <a:lnTo>
                    <a:pt x="2444906" y="1494137"/>
                  </a:lnTo>
                  <a:lnTo>
                    <a:pt x="2451463" y="1493491"/>
                  </a:lnTo>
                  <a:lnTo>
                    <a:pt x="2464450" y="1490908"/>
                  </a:lnTo>
                  <a:lnTo>
                    <a:pt x="2499809" y="1473466"/>
                  </a:lnTo>
                  <a:lnTo>
                    <a:pt x="2525802" y="1443820"/>
                  </a:lnTo>
                  <a:lnTo>
                    <a:pt x="2538471" y="1406483"/>
                  </a:lnTo>
                  <a:lnTo>
                    <a:pt x="2539117" y="1399926"/>
                  </a:lnTo>
                  <a:lnTo>
                    <a:pt x="2539117" y="103377"/>
                  </a:lnTo>
                  <a:lnTo>
                    <a:pt x="2528908" y="65294"/>
                  </a:lnTo>
                  <a:lnTo>
                    <a:pt x="2504903" y="34017"/>
                  </a:lnTo>
                  <a:lnTo>
                    <a:pt x="2470755" y="14308"/>
                  </a:lnTo>
                  <a:lnTo>
                    <a:pt x="2444906" y="9166"/>
                  </a:lnTo>
                  <a:lnTo>
                    <a:pt x="2482061" y="9166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47760" y="1404142"/>
                  </a:lnTo>
                  <a:lnTo>
                    <a:pt x="2535280" y="1445211"/>
                  </a:lnTo>
                  <a:lnTo>
                    <a:pt x="2508033" y="1478378"/>
                  </a:lnTo>
                  <a:lnTo>
                    <a:pt x="2490190" y="1490300"/>
                  </a:lnTo>
                  <a:lnTo>
                    <a:pt x="2482060" y="1494137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9136" y="3655071"/>
              <a:ext cx="333375" cy="4445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309995" y="4213050"/>
            <a:ext cx="808355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sz="1300" b="1" spc="180" dirty="0">
                <a:solidFill>
                  <a:srgbClr val="FFFFFF"/>
                </a:solidFill>
                <a:latin typeface="Trebuchet MS"/>
                <a:cs typeface="Trebuchet MS"/>
              </a:rPr>
              <a:t>NumPy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000" spc="45" dirty="0">
                <a:solidFill>
                  <a:srgbClr val="A0AEBF"/>
                </a:solidFill>
                <a:latin typeface="Microsoft Sans Serif"/>
                <a:cs typeface="Microsoft Sans Serif"/>
              </a:rPr>
              <a:t>Calculations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208270" y="3428266"/>
            <a:ext cx="2548890" cy="1503680"/>
            <a:chOff x="3208270" y="3428266"/>
            <a:chExt cx="2548890" cy="1503680"/>
          </a:xfrm>
        </p:grpSpPr>
        <p:sp>
          <p:nvSpPr>
            <p:cNvPr id="32" name="object 32"/>
            <p:cNvSpPr/>
            <p:nvPr/>
          </p:nvSpPr>
          <p:spPr>
            <a:xfrm>
              <a:off x="3208270" y="34282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79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39910" y="1435400"/>
                  </a:lnTo>
                  <a:lnTo>
                    <a:pt x="2516066" y="1471086"/>
                  </a:lnTo>
                  <a:lnTo>
                    <a:pt x="2480379" y="1494930"/>
                  </a:lnTo>
                  <a:lnTo>
                    <a:pt x="2438285" y="150330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08270" y="34282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79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482061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1399926"/>
                  </a:lnTo>
                  <a:lnTo>
                    <a:pt x="19375" y="1438009"/>
                  </a:lnTo>
                  <a:lnTo>
                    <a:pt x="43380" y="1469286"/>
                  </a:lnTo>
                  <a:lnTo>
                    <a:pt x="77528" y="1488995"/>
                  </a:lnTo>
                  <a:lnTo>
                    <a:pt x="103377" y="1494137"/>
                  </a:lnTo>
                  <a:lnTo>
                    <a:pt x="2482060" y="1494137"/>
                  </a:lnTo>
                  <a:lnTo>
                    <a:pt x="2480379" y="1494930"/>
                  </a:lnTo>
                  <a:lnTo>
                    <a:pt x="2470168" y="1498594"/>
                  </a:lnTo>
                  <a:lnTo>
                    <a:pt x="2459748" y="1501210"/>
                  </a:lnTo>
                  <a:lnTo>
                    <a:pt x="2449121" y="1502780"/>
                  </a:lnTo>
                  <a:lnTo>
                    <a:pt x="2438285" y="1503304"/>
                  </a:lnTo>
                  <a:close/>
                </a:path>
                <a:path w="2548890" h="1503679">
                  <a:moveTo>
                    <a:pt x="2482060" y="1494137"/>
                  </a:moveTo>
                  <a:lnTo>
                    <a:pt x="2444906" y="1494137"/>
                  </a:lnTo>
                  <a:lnTo>
                    <a:pt x="2451463" y="1493491"/>
                  </a:lnTo>
                  <a:lnTo>
                    <a:pt x="2464450" y="1490908"/>
                  </a:lnTo>
                  <a:lnTo>
                    <a:pt x="2499809" y="1473466"/>
                  </a:lnTo>
                  <a:lnTo>
                    <a:pt x="2525802" y="1443820"/>
                  </a:lnTo>
                  <a:lnTo>
                    <a:pt x="2538471" y="1406483"/>
                  </a:lnTo>
                  <a:lnTo>
                    <a:pt x="2539117" y="1399926"/>
                  </a:lnTo>
                  <a:lnTo>
                    <a:pt x="2539117" y="103377"/>
                  </a:lnTo>
                  <a:lnTo>
                    <a:pt x="2528908" y="65294"/>
                  </a:lnTo>
                  <a:lnTo>
                    <a:pt x="2504903" y="34017"/>
                  </a:lnTo>
                  <a:lnTo>
                    <a:pt x="2470755" y="14308"/>
                  </a:lnTo>
                  <a:lnTo>
                    <a:pt x="2444906" y="9166"/>
                  </a:lnTo>
                  <a:lnTo>
                    <a:pt x="2482061" y="9166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47760" y="1404142"/>
                  </a:lnTo>
                  <a:lnTo>
                    <a:pt x="2535280" y="1445211"/>
                  </a:lnTo>
                  <a:lnTo>
                    <a:pt x="2508033" y="1478378"/>
                  </a:lnTo>
                  <a:lnTo>
                    <a:pt x="2490190" y="1490300"/>
                  </a:lnTo>
                  <a:lnTo>
                    <a:pt x="2482060" y="1494137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62417" y="3683646"/>
              <a:ext cx="441325" cy="38735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3894515" y="4213050"/>
            <a:ext cx="1176020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b="1" spc="130" dirty="0">
                <a:solidFill>
                  <a:srgbClr val="FFFFFF"/>
                </a:solidFill>
                <a:latin typeface="Trebuchet MS"/>
                <a:cs typeface="Trebuchet MS"/>
              </a:rPr>
              <a:t>Matplotlib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10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Graph</a:t>
            </a:r>
            <a:r>
              <a:rPr sz="100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00" spc="55" dirty="0">
                <a:solidFill>
                  <a:srgbClr val="A0AEBF"/>
                </a:solidFill>
                <a:latin typeface="Microsoft Sans Serif"/>
                <a:cs typeface="Microsoft Sans Serif"/>
              </a:rPr>
              <a:t>Generation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976549" y="3428266"/>
            <a:ext cx="2548890" cy="1503680"/>
            <a:chOff x="5976549" y="3428266"/>
            <a:chExt cx="2548890" cy="1503680"/>
          </a:xfrm>
        </p:grpSpPr>
        <p:sp>
          <p:nvSpPr>
            <p:cNvPr id="37" name="object 37"/>
            <p:cNvSpPr/>
            <p:nvPr/>
          </p:nvSpPr>
          <p:spPr>
            <a:xfrm>
              <a:off x="5976549" y="34282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79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39910" y="1435400"/>
                  </a:lnTo>
                  <a:lnTo>
                    <a:pt x="2516066" y="1471086"/>
                  </a:lnTo>
                  <a:lnTo>
                    <a:pt x="2480379" y="1494930"/>
                  </a:lnTo>
                  <a:lnTo>
                    <a:pt x="2438285" y="150330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76549" y="34282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79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482061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1399926"/>
                  </a:lnTo>
                  <a:lnTo>
                    <a:pt x="19375" y="1438009"/>
                  </a:lnTo>
                  <a:lnTo>
                    <a:pt x="43380" y="1469286"/>
                  </a:lnTo>
                  <a:lnTo>
                    <a:pt x="77528" y="1488995"/>
                  </a:lnTo>
                  <a:lnTo>
                    <a:pt x="103377" y="1494137"/>
                  </a:lnTo>
                  <a:lnTo>
                    <a:pt x="2482060" y="1494137"/>
                  </a:lnTo>
                  <a:lnTo>
                    <a:pt x="2480379" y="1494930"/>
                  </a:lnTo>
                  <a:lnTo>
                    <a:pt x="2470168" y="1498594"/>
                  </a:lnTo>
                  <a:lnTo>
                    <a:pt x="2459748" y="1501210"/>
                  </a:lnTo>
                  <a:lnTo>
                    <a:pt x="2449121" y="1502780"/>
                  </a:lnTo>
                  <a:lnTo>
                    <a:pt x="2438285" y="1503304"/>
                  </a:lnTo>
                  <a:close/>
                </a:path>
                <a:path w="2548890" h="1503679">
                  <a:moveTo>
                    <a:pt x="2482060" y="1494137"/>
                  </a:moveTo>
                  <a:lnTo>
                    <a:pt x="2444906" y="1494137"/>
                  </a:lnTo>
                  <a:lnTo>
                    <a:pt x="2451463" y="1493491"/>
                  </a:lnTo>
                  <a:lnTo>
                    <a:pt x="2464450" y="1490908"/>
                  </a:lnTo>
                  <a:lnTo>
                    <a:pt x="2499809" y="1473466"/>
                  </a:lnTo>
                  <a:lnTo>
                    <a:pt x="2525802" y="1443820"/>
                  </a:lnTo>
                  <a:lnTo>
                    <a:pt x="2538471" y="1406483"/>
                  </a:lnTo>
                  <a:lnTo>
                    <a:pt x="2539117" y="1399926"/>
                  </a:lnTo>
                  <a:lnTo>
                    <a:pt x="2539117" y="103377"/>
                  </a:lnTo>
                  <a:lnTo>
                    <a:pt x="2528908" y="65294"/>
                  </a:lnTo>
                  <a:lnTo>
                    <a:pt x="2504903" y="34017"/>
                  </a:lnTo>
                  <a:lnTo>
                    <a:pt x="2470755" y="14308"/>
                  </a:lnTo>
                  <a:lnTo>
                    <a:pt x="2444906" y="9166"/>
                  </a:lnTo>
                  <a:lnTo>
                    <a:pt x="2482061" y="9166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47760" y="1404142"/>
                  </a:lnTo>
                  <a:lnTo>
                    <a:pt x="2535280" y="1445211"/>
                  </a:lnTo>
                  <a:lnTo>
                    <a:pt x="2508033" y="1478378"/>
                  </a:lnTo>
                  <a:lnTo>
                    <a:pt x="2490190" y="1490300"/>
                  </a:lnTo>
                  <a:lnTo>
                    <a:pt x="2482060" y="1494137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03196" y="3683646"/>
              <a:ext cx="498475" cy="38735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6580440" y="4213050"/>
            <a:ext cx="1340485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sz="1300" b="1" spc="160" dirty="0">
                <a:solidFill>
                  <a:srgbClr val="FFFFFF"/>
                </a:solidFill>
                <a:latin typeface="Trebuchet MS"/>
                <a:cs typeface="Trebuchet MS"/>
              </a:rPr>
              <a:t>Homography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000" spc="50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Multi-</a:t>
            </a:r>
            <a:r>
              <a:rPr sz="10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0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00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Fusion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744829" y="3428266"/>
            <a:ext cx="2548890" cy="1503680"/>
            <a:chOff x="8744829" y="3428266"/>
            <a:chExt cx="2548890" cy="1503680"/>
          </a:xfrm>
        </p:grpSpPr>
        <p:sp>
          <p:nvSpPr>
            <p:cNvPr id="42" name="object 42"/>
            <p:cNvSpPr/>
            <p:nvPr/>
          </p:nvSpPr>
          <p:spPr>
            <a:xfrm>
              <a:off x="8744829" y="34282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79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39910" y="1435400"/>
                  </a:lnTo>
                  <a:lnTo>
                    <a:pt x="2516066" y="1471086"/>
                  </a:lnTo>
                  <a:lnTo>
                    <a:pt x="2480379" y="1494930"/>
                  </a:lnTo>
                  <a:lnTo>
                    <a:pt x="2438285" y="150330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744829" y="3428266"/>
              <a:ext cx="2548890" cy="1503680"/>
            </a:xfrm>
            <a:custGeom>
              <a:avLst/>
              <a:gdLst/>
              <a:ahLst/>
              <a:cxnLst/>
              <a:rect l="l" t="t" r="r" b="b"/>
              <a:pathLst>
                <a:path w="2548890" h="1503679">
                  <a:moveTo>
                    <a:pt x="2438285" y="1503304"/>
                  </a:moveTo>
                  <a:lnTo>
                    <a:pt x="109997" y="1503304"/>
                  </a:lnTo>
                  <a:lnTo>
                    <a:pt x="99161" y="1502780"/>
                  </a:lnTo>
                  <a:lnTo>
                    <a:pt x="58092" y="1490300"/>
                  </a:lnTo>
                  <a:lnTo>
                    <a:pt x="24925" y="1463054"/>
                  </a:lnTo>
                  <a:lnTo>
                    <a:pt x="4709" y="1425189"/>
                  </a:lnTo>
                  <a:lnTo>
                    <a:pt x="0" y="1393306"/>
                  </a:lnTo>
                  <a:lnTo>
                    <a:pt x="0" y="109997"/>
                  </a:lnTo>
                  <a:lnTo>
                    <a:pt x="8373" y="67903"/>
                  </a:lnTo>
                  <a:lnTo>
                    <a:pt x="32217" y="32217"/>
                  </a:lnTo>
                  <a:lnTo>
                    <a:pt x="67903" y="8373"/>
                  </a:lnTo>
                  <a:lnTo>
                    <a:pt x="109997" y="0"/>
                  </a:lnTo>
                  <a:lnTo>
                    <a:pt x="2438285" y="0"/>
                  </a:lnTo>
                  <a:lnTo>
                    <a:pt x="2480379" y="8373"/>
                  </a:lnTo>
                  <a:lnTo>
                    <a:pt x="2482061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1399926"/>
                  </a:lnTo>
                  <a:lnTo>
                    <a:pt x="19375" y="1438009"/>
                  </a:lnTo>
                  <a:lnTo>
                    <a:pt x="43380" y="1469286"/>
                  </a:lnTo>
                  <a:lnTo>
                    <a:pt x="77528" y="1488995"/>
                  </a:lnTo>
                  <a:lnTo>
                    <a:pt x="103377" y="1494137"/>
                  </a:lnTo>
                  <a:lnTo>
                    <a:pt x="2482060" y="1494137"/>
                  </a:lnTo>
                  <a:lnTo>
                    <a:pt x="2480379" y="1494930"/>
                  </a:lnTo>
                  <a:lnTo>
                    <a:pt x="2470168" y="1498594"/>
                  </a:lnTo>
                  <a:lnTo>
                    <a:pt x="2459748" y="1501210"/>
                  </a:lnTo>
                  <a:lnTo>
                    <a:pt x="2449121" y="1502780"/>
                  </a:lnTo>
                  <a:lnTo>
                    <a:pt x="2438285" y="1503304"/>
                  </a:lnTo>
                  <a:close/>
                </a:path>
                <a:path w="2548890" h="1503679">
                  <a:moveTo>
                    <a:pt x="2482060" y="1494137"/>
                  </a:moveTo>
                  <a:lnTo>
                    <a:pt x="2444906" y="1494137"/>
                  </a:lnTo>
                  <a:lnTo>
                    <a:pt x="2451463" y="1493491"/>
                  </a:lnTo>
                  <a:lnTo>
                    <a:pt x="2464450" y="1490908"/>
                  </a:lnTo>
                  <a:lnTo>
                    <a:pt x="2499809" y="1473466"/>
                  </a:lnTo>
                  <a:lnTo>
                    <a:pt x="2525802" y="1443820"/>
                  </a:lnTo>
                  <a:lnTo>
                    <a:pt x="2538471" y="1406483"/>
                  </a:lnTo>
                  <a:lnTo>
                    <a:pt x="2539117" y="1399926"/>
                  </a:lnTo>
                  <a:lnTo>
                    <a:pt x="2539117" y="103377"/>
                  </a:lnTo>
                  <a:lnTo>
                    <a:pt x="2528908" y="65294"/>
                  </a:lnTo>
                  <a:lnTo>
                    <a:pt x="2504903" y="34017"/>
                  </a:lnTo>
                  <a:lnTo>
                    <a:pt x="2470755" y="14308"/>
                  </a:lnTo>
                  <a:lnTo>
                    <a:pt x="2444906" y="9166"/>
                  </a:lnTo>
                  <a:lnTo>
                    <a:pt x="2482061" y="9166"/>
                  </a:lnTo>
                  <a:lnTo>
                    <a:pt x="2516066" y="32217"/>
                  </a:lnTo>
                  <a:lnTo>
                    <a:pt x="2539910" y="67903"/>
                  </a:lnTo>
                  <a:lnTo>
                    <a:pt x="2548283" y="109997"/>
                  </a:lnTo>
                  <a:lnTo>
                    <a:pt x="2548283" y="1393306"/>
                  </a:lnTo>
                  <a:lnTo>
                    <a:pt x="2547760" y="1404142"/>
                  </a:lnTo>
                  <a:lnTo>
                    <a:pt x="2535280" y="1445211"/>
                  </a:lnTo>
                  <a:lnTo>
                    <a:pt x="2508033" y="1478378"/>
                  </a:lnTo>
                  <a:lnTo>
                    <a:pt x="2490190" y="1490300"/>
                  </a:lnTo>
                  <a:lnTo>
                    <a:pt x="2482060" y="1494137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98976" y="3655071"/>
              <a:ext cx="441325" cy="44450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9418756" y="4213050"/>
            <a:ext cx="1200785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300" b="1" spc="204" dirty="0">
                <a:solidFill>
                  <a:srgbClr val="FFFFFF"/>
                </a:solidFill>
                <a:latin typeface="Trebuchet MS"/>
                <a:cs typeface="Trebuchet MS"/>
              </a:rPr>
              <a:t>CSV</a:t>
            </a:r>
            <a:r>
              <a:rPr sz="1300" b="1" spc="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b="1" spc="175" dirty="0">
                <a:solidFill>
                  <a:srgbClr val="FFFFFF"/>
                </a:solidFill>
                <a:latin typeface="Trebuchet MS"/>
                <a:cs typeface="Trebuchet MS"/>
              </a:rPr>
              <a:t>Logging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1000" spc="254" dirty="0">
                <a:solidFill>
                  <a:srgbClr val="A0AEBF"/>
                </a:solidFill>
                <a:latin typeface="Microsoft Sans Serif"/>
                <a:cs typeface="Microsoft Sans Serif"/>
              </a:rPr>
              <a:t>+</a:t>
            </a:r>
            <a:r>
              <a:rPr sz="1000" spc="55" dirty="0">
                <a:solidFill>
                  <a:srgbClr val="A0AEBF"/>
                </a:solidFill>
                <a:latin typeface="Microsoft Sans Serif"/>
                <a:cs typeface="Microsoft Sans Serif"/>
              </a:rPr>
              <a:t> Analytics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39991" y="5389895"/>
            <a:ext cx="10853420" cy="1026794"/>
            <a:chOff x="439991" y="5389895"/>
            <a:chExt cx="10853420" cy="1026794"/>
          </a:xfrm>
        </p:grpSpPr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9991" y="5389895"/>
              <a:ext cx="10853122" cy="102664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39991" y="5389895"/>
              <a:ext cx="10853420" cy="1026794"/>
            </a:xfrm>
            <a:custGeom>
              <a:avLst/>
              <a:gdLst/>
              <a:ahLst/>
              <a:cxnLst/>
              <a:rect l="l" t="t" r="r" b="b"/>
              <a:pathLst>
                <a:path w="10853420" h="1026795">
                  <a:moveTo>
                    <a:pt x="10743124" y="1026646"/>
                  </a:moveTo>
                  <a:lnTo>
                    <a:pt x="109997" y="1026646"/>
                  </a:lnTo>
                  <a:lnTo>
                    <a:pt x="99161" y="1026123"/>
                  </a:lnTo>
                  <a:lnTo>
                    <a:pt x="58092" y="1013642"/>
                  </a:lnTo>
                  <a:lnTo>
                    <a:pt x="24925" y="986396"/>
                  </a:lnTo>
                  <a:lnTo>
                    <a:pt x="4709" y="948531"/>
                  </a:lnTo>
                  <a:lnTo>
                    <a:pt x="0" y="916648"/>
                  </a:lnTo>
                  <a:lnTo>
                    <a:pt x="0" y="109997"/>
                  </a:lnTo>
                  <a:lnTo>
                    <a:pt x="8373" y="67902"/>
                  </a:lnTo>
                  <a:lnTo>
                    <a:pt x="32217" y="32217"/>
                  </a:lnTo>
                  <a:lnTo>
                    <a:pt x="67903" y="8372"/>
                  </a:lnTo>
                  <a:lnTo>
                    <a:pt x="109997" y="0"/>
                  </a:lnTo>
                  <a:lnTo>
                    <a:pt x="10743124" y="0"/>
                  </a:lnTo>
                  <a:lnTo>
                    <a:pt x="10785217" y="8372"/>
                  </a:lnTo>
                  <a:lnTo>
                    <a:pt x="10786900" y="9166"/>
                  </a:lnTo>
                  <a:lnTo>
                    <a:pt x="103377" y="9166"/>
                  </a:lnTo>
                  <a:lnTo>
                    <a:pt x="96820" y="9812"/>
                  </a:lnTo>
                  <a:lnTo>
                    <a:pt x="59483" y="22481"/>
                  </a:lnTo>
                  <a:lnTo>
                    <a:pt x="29837" y="48474"/>
                  </a:lnTo>
                  <a:lnTo>
                    <a:pt x="12395" y="83833"/>
                  </a:lnTo>
                  <a:lnTo>
                    <a:pt x="9166" y="103377"/>
                  </a:lnTo>
                  <a:lnTo>
                    <a:pt x="9166" y="923269"/>
                  </a:lnTo>
                  <a:lnTo>
                    <a:pt x="19375" y="961352"/>
                  </a:lnTo>
                  <a:lnTo>
                    <a:pt x="43380" y="992628"/>
                  </a:lnTo>
                  <a:lnTo>
                    <a:pt x="77528" y="1012338"/>
                  </a:lnTo>
                  <a:lnTo>
                    <a:pt x="103377" y="1017480"/>
                  </a:lnTo>
                  <a:lnTo>
                    <a:pt x="10786897" y="1017480"/>
                  </a:lnTo>
                  <a:lnTo>
                    <a:pt x="10785217" y="1018273"/>
                  </a:lnTo>
                  <a:lnTo>
                    <a:pt x="10775006" y="1021936"/>
                  </a:lnTo>
                  <a:lnTo>
                    <a:pt x="10764587" y="1024552"/>
                  </a:lnTo>
                  <a:lnTo>
                    <a:pt x="10753960" y="1026123"/>
                  </a:lnTo>
                  <a:lnTo>
                    <a:pt x="10743124" y="1026646"/>
                  </a:lnTo>
                  <a:close/>
                </a:path>
                <a:path w="10853420" h="1026795">
                  <a:moveTo>
                    <a:pt x="10786897" y="1017480"/>
                  </a:moveTo>
                  <a:lnTo>
                    <a:pt x="10749745" y="1017480"/>
                  </a:lnTo>
                  <a:lnTo>
                    <a:pt x="10756302" y="1016834"/>
                  </a:lnTo>
                  <a:lnTo>
                    <a:pt x="10769287" y="1014251"/>
                  </a:lnTo>
                  <a:lnTo>
                    <a:pt x="10804646" y="996808"/>
                  </a:lnTo>
                  <a:lnTo>
                    <a:pt x="10830639" y="967162"/>
                  </a:lnTo>
                  <a:lnTo>
                    <a:pt x="10843309" y="929826"/>
                  </a:lnTo>
                  <a:lnTo>
                    <a:pt x="10843955" y="923269"/>
                  </a:lnTo>
                  <a:lnTo>
                    <a:pt x="10843955" y="103377"/>
                  </a:lnTo>
                  <a:lnTo>
                    <a:pt x="10833744" y="65294"/>
                  </a:lnTo>
                  <a:lnTo>
                    <a:pt x="10809740" y="34017"/>
                  </a:lnTo>
                  <a:lnTo>
                    <a:pt x="10775593" y="14308"/>
                  </a:lnTo>
                  <a:lnTo>
                    <a:pt x="10749745" y="9166"/>
                  </a:lnTo>
                  <a:lnTo>
                    <a:pt x="10786900" y="9166"/>
                  </a:lnTo>
                  <a:lnTo>
                    <a:pt x="10820904" y="32217"/>
                  </a:lnTo>
                  <a:lnTo>
                    <a:pt x="10844747" y="67902"/>
                  </a:lnTo>
                  <a:lnTo>
                    <a:pt x="10853122" y="109997"/>
                  </a:lnTo>
                  <a:lnTo>
                    <a:pt x="10853122" y="916648"/>
                  </a:lnTo>
                  <a:lnTo>
                    <a:pt x="10844748" y="958742"/>
                  </a:lnTo>
                  <a:lnTo>
                    <a:pt x="10820904" y="994428"/>
                  </a:lnTo>
                  <a:lnTo>
                    <a:pt x="10795028" y="1013642"/>
                  </a:lnTo>
                  <a:lnTo>
                    <a:pt x="10786897" y="1017480"/>
                  </a:lnTo>
                  <a:close/>
                </a:path>
              </a:pathLst>
            </a:custGeom>
            <a:solidFill>
              <a:srgbClr val="00D4FF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9153" y="5730282"/>
              <a:ext cx="371475" cy="339725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211026" y="5624690"/>
            <a:ext cx="3228340" cy="541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170" dirty="0">
                <a:solidFill>
                  <a:srgbClr val="FFFFFF"/>
                </a:solidFill>
                <a:latin typeface="Trebuchet MS"/>
                <a:cs typeface="Trebuchet MS"/>
              </a:rPr>
              <a:t>Modular</a:t>
            </a:r>
            <a:r>
              <a:rPr sz="1450" b="1" spc="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50" b="1" spc="110" dirty="0">
                <a:solidFill>
                  <a:srgbClr val="FFFFFF"/>
                </a:solidFill>
                <a:latin typeface="Trebuchet MS"/>
                <a:cs typeface="Trebuchet MS"/>
              </a:rPr>
              <a:t>Architecture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150" dirty="0">
                <a:solidFill>
                  <a:srgbClr val="A0AEBF"/>
                </a:solidFill>
                <a:latin typeface="Microsoft Sans Serif"/>
                <a:cs typeface="Microsoft Sans Serif"/>
              </a:rPr>
              <a:t>Easy</a:t>
            </a:r>
            <a:r>
              <a:rPr sz="11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to</a:t>
            </a:r>
            <a:r>
              <a:rPr sz="11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extend </a:t>
            </a:r>
            <a:r>
              <a:rPr sz="11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for</a:t>
            </a:r>
            <a:r>
              <a:rPr sz="11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drones,</a:t>
            </a:r>
            <a:r>
              <a:rPr sz="11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dirty="0">
                <a:solidFill>
                  <a:srgbClr val="A0AEBF"/>
                </a:solidFill>
                <a:latin typeface="Microsoft Sans Serif"/>
                <a:cs typeface="Microsoft Sans Serif"/>
              </a:rPr>
              <a:t>ROS,</a:t>
            </a:r>
            <a:r>
              <a:rPr sz="11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or</a:t>
            </a:r>
            <a:r>
              <a:rPr sz="11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50" spc="-10" dirty="0">
                <a:solidFill>
                  <a:srgbClr val="A0AEBF"/>
                </a:solidFill>
                <a:latin typeface="Microsoft Sans Serif"/>
                <a:cs typeface="Microsoft Sans Serif"/>
              </a:rPr>
              <a:t>MAVSDK</a:t>
            </a:r>
            <a:endParaRPr sz="11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0689">
              <a:lnSpc>
                <a:spcPct val="100000"/>
              </a:lnSpc>
              <a:spcBef>
                <a:spcPts val="100"/>
              </a:spcBef>
            </a:pPr>
            <a:r>
              <a:rPr spc="484" dirty="0"/>
              <a:t>Challenges</a:t>
            </a:r>
            <a:r>
              <a:rPr spc="320" dirty="0"/>
              <a:t> </a:t>
            </a:r>
            <a:r>
              <a:rPr spc="580" dirty="0"/>
              <a:t>&amp;</a:t>
            </a:r>
            <a:r>
              <a:rPr spc="325" dirty="0"/>
              <a:t> </a:t>
            </a:r>
            <a:r>
              <a:rPr spc="490" dirty="0"/>
              <a:t>Problems</a:t>
            </a:r>
            <a:r>
              <a:rPr spc="325" dirty="0"/>
              <a:t> </a:t>
            </a:r>
            <a:r>
              <a:rPr spc="405" dirty="0"/>
              <a:t>Faced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719" y="1362455"/>
            <a:ext cx="11338560" cy="5145405"/>
            <a:chOff x="426719" y="1362455"/>
            <a:chExt cx="11338560" cy="51454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719" y="1362455"/>
              <a:ext cx="11338559" cy="51450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2549" y="2209799"/>
              <a:ext cx="304800" cy="304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016125" y="1981835"/>
            <a:ext cx="3490595" cy="136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800"/>
              </a:lnSpc>
              <a:spcBef>
                <a:spcPts val="100"/>
              </a:spcBef>
            </a:pPr>
            <a:r>
              <a:rPr sz="1650" b="1" spc="190" dirty="0">
                <a:solidFill>
                  <a:srgbClr val="00D4FF"/>
                </a:solidFill>
                <a:latin typeface="Trebuchet MS"/>
                <a:cs typeface="Trebuchet MS"/>
              </a:rPr>
              <a:t>Integrating</a:t>
            </a:r>
            <a:r>
              <a:rPr sz="1650" b="1" spc="75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130" dirty="0">
                <a:solidFill>
                  <a:srgbClr val="00D4FF"/>
                </a:solidFill>
                <a:latin typeface="Trebuchet MS"/>
                <a:cs typeface="Trebuchet MS"/>
              </a:rPr>
              <a:t>YOLO,</a:t>
            </a:r>
            <a:r>
              <a:rPr sz="1650" b="1" spc="8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155" dirty="0">
                <a:solidFill>
                  <a:srgbClr val="00D4FF"/>
                </a:solidFill>
                <a:latin typeface="Trebuchet MS"/>
                <a:cs typeface="Trebuchet MS"/>
              </a:rPr>
              <a:t>DeepSORT, </a:t>
            </a:r>
            <a:r>
              <a:rPr sz="1650" b="1" spc="185" dirty="0">
                <a:solidFill>
                  <a:srgbClr val="00D4FF"/>
                </a:solidFill>
                <a:latin typeface="Trebuchet MS"/>
                <a:cs typeface="Trebuchet MS"/>
              </a:rPr>
              <a:t>Kalman,</a:t>
            </a:r>
            <a:r>
              <a:rPr sz="1650" b="1" spc="85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204" dirty="0">
                <a:solidFill>
                  <a:srgbClr val="00D4FF"/>
                </a:solidFill>
                <a:latin typeface="Trebuchet MS"/>
                <a:cs typeface="Trebuchet MS"/>
              </a:rPr>
              <a:t>PID</a:t>
            </a:r>
            <a:endParaRPr sz="1650">
              <a:latin typeface="Trebuchet MS"/>
              <a:cs typeface="Trebuchet MS"/>
            </a:endParaRPr>
          </a:p>
          <a:p>
            <a:pPr marL="12700" marR="76835">
              <a:lnSpc>
                <a:spcPct val="136400"/>
              </a:lnSpc>
              <a:spcBef>
                <a:spcPts val="790"/>
              </a:spcBef>
            </a:pP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Complex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integration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of </a:t>
            </a:r>
            <a:r>
              <a:rPr sz="110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multiple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algorithms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and 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ensuring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seamless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data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flow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between components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26325" y="1981835"/>
            <a:ext cx="3472179" cy="113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89355">
              <a:lnSpc>
                <a:spcPct val="109800"/>
              </a:lnSpc>
              <a:spcBef>
                <a:spcPts val="100"/>
              </a:spcBef>
            </a:pPr>
            <a:r>
              <a:rPr sz="1650" b="1" spc="195" dirty="0">
                <a:solidFill>
                  <a:srgbClr val="00D4FF"/>
                </a:solidFill>
                <a:latin typeface="Trebuchet MS"/>
                <a:cs typeface="Trebuchet MS"/>
              </a:rPr>
              <a:t>Ensuring</a:t>
            </a:r>
            <a:r>
              <a:rPr sz="1650" b="1" spc="114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110" dirty="0">
                <a:solidFill>
                  <a:srgbClr val="00D4FF"/>
                </a:solidFill>
                <a:latin typeface="Trebuchet MS"/>
                <a:cs typeface="Trebuchet MS"/>
              </a:rPr>
              <a:t>Real-</a:t>
            </a:r>
            <a:r>
              <a:rPr sz="1650" b="1" spc="140" dirty="0">
                <a:solidFill>
                  <a:srgbClr val="00D4FF"/>
                </a:solidFill>
                <a:latin typeface="Trebuchet MS"/>
                <a:cs typeface="Trebuchet MS"/>
              </a:rPr>
              <a:t>Time </a:t>
            </a:r>
            <a:r>
              <a:rPr sz="1650" b="1" spc="170" dirty="0">
                <a:solidFill>
                  <a:srgbClr val="00D4FF"/>
                </a:solidFill>
                <a:latin typeface="Trebuchet MS"/>
                <a:cs typeface="Trebuchet MS"/>
              </a:rPr>
              <a:t>Performance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400"/>
              </a:lnSpc>
              <a:spcBef>
                <a:spcPts val="790"/>
              </a:spcBef>
            </a:pP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Optimizing</a:t>
            </a:r>
            <a:r>
              <a:rPr sz="110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computational</a:t>
            </a:r>
            <a:r>
              <a:rPr sz="110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efficiency</a:t>
            </a:r>
            <a:r>
              <a:rPr sz="110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to</a:t>
            </a:r>
            <a:r>
              <a:rPr sz="110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maintain high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105" dirty="0">
                <a:solidFill>
                  <a:srgbClr val="A0AEBF"/>
                </a:solidFill>
                <a:latin typeface="Microsoft Sans Serif"/>
                <a:cs typeface="Microsoft Sans Serif"/>
              </a:rPr>
              <a:t>frame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rates 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for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aerial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tracking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applications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6125" y="4296409"/>
            <a:ext cx="3385820" cy="113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0525">
              <a:lnSpc>
                <a:spcPct val="109800"/>
              </a:lnSpc>
              <a:spcBef>
                <a:spcPts val="100"/>
              </a:spcBef>
            </a:pPr>
            <a:r>
              <a:rPr sz="1650" b="1" spc="200" dirty="0">
                <a:solidFill>
                  <a:srgbClr val="00D4FF"/>
                </a:solidFill>
                <a:latin typeface="Trebuchet MS"/>
                <a:cs typeface="Trebuchet MS"/>
              </a:rPr>
              <a:t>Handling</a:t>
            </a:r>
            <a:r>
              <a:rPr sz="1650" b="1" spc="8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170" dirty="0">
                <a:solidFill>
                  <a:srgbClr val="00D4FF"/>
                </a:solidFill>
                <a:latin typeface="Trebuchet MS"/>
                <a:cs typeface="Trebuchet MS"/>
              </a:rPr>
              <a:t>Occlusions</a:t>
            </a:r>
            <a:r>
              <a:rPr sz="1650" b="1" spc="85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265" dirty="0">
                <a:solidFill>
                  <a:srgbClr val="00D4FF"/>
                </a:solidFill>
                <a:latin typeface="Trebuchet MS"/>
                <a:cs typeface="Trebuchet MS"/>
              </a:rPr>
              <a:t>&amp;</a:t>
            </a:r>
            <a:r>
              <a:rPr sz="1650" b="1" spc="8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200" dirty="0">
                <a:solidFill>
                  <a:srgbClr val="00D4FF"/>
                </a:solidFill>
                <a:latin typeface="Trebuchet MS"/>
                <a:cs typeface="Trebuchet MS"/>
              </a:rPr>
              <a:t>ID </a:t>
            </a:r>
            <a:r>
              <a:rPr sz="1650" b="1" spc="175" dirty="0">
                <a:solidFill>
                  <a:srgbClr val="00D4FF"/>
                </a:solidFill>
                <a:latin typeface="Trebuchet MS"/>
                <a:cs typeface="Trebuchet MS"/>
              </a:rPr>
              <a:t>Switching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400"/>
              </a:lnSpc>
              <a:spcBef>
                <a:spcPts val="790"/>
              </a:spcBef>
            </a:pP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Maintaining</a:t>
            </a:r>
            <a:r>
              <a:rPr sz="110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consistent</a:t>
            </a:r>
            <a:r>
              <a:rPr sz="110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object</a:t>
            </a:r>
            <a:r>
              <a:rPr sz="110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A0AEBF"/>
                </a:solidFill>
                <a:latin typeface="Microsoft Sans Serif"/>
                <a:cs typeface="Microsoft Sans Serif"/>
              </a:rPr>
              <a:t>IDs</a:t>
            </a:r>
            <a:r>
              <a:rPr sz="110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when</a:t>
            </a:r>
            <a:r>
              <a:rPr sz="110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targets 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are </a:t>
            </a:r>
            <a:r>
              <a:rPr sz="110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temporarily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occluded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or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55" dirty="0">
                <a:solidFill>
                  <a:srgbClr val="A0AEBF"/>
                </a:solidFill>
                <a:latin typeface="Microsoft Sans Serif"/>
                <a:cs typeface="Microsoft Sans Serif"/>
              </a:rPr>
              <a:t>cross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paths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26325" y="4296409"/>
            <a:ext cx="3490595" cy="136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895">
              <a:lnSpc>
                <a:spcPct val="109800"/>
              </a:lnSpc>
              <a:spcBef>
                <a:spcPts val="100"/>
              </a:spcBef>
            </a:pPr>
            <a:r>
              <a:rPr sz="1650" b="1" spc="190" dirty="0">
                <a:solidFill>
                  <a:srgbClr val="00D4FF"/>
                </a:solidFill>
                <a:latin typeface="Trebuchet MS"/>
                <a:cs typeface="Trebuchet MS"/>
              </a:rPr>
              <a:t>Implementing</a:t>
            </a:r>
            <a:r>
              <a:rPr sz="1650" b="1" spc="114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160" dirty="0">
                <a:solidFill>
                  <a:srgbClr val="00D4FF"/>
                </a:solidFill>
                <a:latin typeface="Trebuchet MS"/>
                <a:cs typeface="Trebuchet MS"/>
              </a:rPr>
              <a:t>Auto-</a:t>
            </a:r>
            <a:r>
              <a:rPr sz="1650" b="1" spc="155" dirty="0">
                <a:solidFill>
                  <a:srgbClr val="00D4FF"/>
                </a:solidFill>
                <a:latin typeface="Trebuchet MS"/>
                <a:cs typeface="Trebuchet MS"/>
              </a:rPr>
              <a:t>Recenter </a:t>
            </a:r>
            <a:r>
              <a:rPr sz="1650" b="1" spc="265" dirty="0">
                <a:solidFill>
                  <a:srgbClr val="00D4FF"/>
                </a:solidFill>
                <a:latin typeface="Trebuchet MS"/>
                <a:cs typeface="Trebuchet MS"/>
              </a:rPr>
              <a:t>&amp;</a:t>
            </a:r>
            <a:r>
              <a:rPr sz="1650" b="1" spc="9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650" b="1" spc="165" dirty="0">
                <a:solidFill>
                  <a:srgbClr val="00D4FF"/>
                </a:solidFill>
                <a:latin typeface="Trebuchet MS"/>
                <a:cs typeface="Trebuchet MS"/>
              </a:rPr>
              <a:t>Auto-</a:t>
            </a:r>
            <a:r>
              <a:rPr sz="1650" b="1" spc="160" dirty="0">
                <a:solidFill>
                  <a:srgbClr val="00D4FF"/>
                </a:solidFill>
                <a:latin typeface="Trebuchet MS"/>
                <a:cs typeface="Trebuchet MS"/>
              </a:rPr>
              <a:t>Relock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400"/>
              </a:lnSpc>
              <a:spcBef>
                <a:spcPts val="790"/>
              </a:spcBef>
            </a:pP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Developing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robust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mechanisms </a:t>
            </a:r>
            <a:r>
              <a:rPr sz="110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to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automatically 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recenter</a:t>
            </a:r>
            <a:r>
              <a:rPr sz="11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and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relock 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on</a:t>
            </a:r>
            <a:r>
              <a:rPr sz="110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targets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during</a:t>
            </a:r>
            <a:r>
              <a:rPr sz="110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10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dynamic </a:t>
            </a:r>
            <a:r>
              <a:rPr sz="110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movements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57755">
              <a:lnSpc>
                <a:spcPct val="100000"/>
              </a:lnSpc>
              <a:spcBef>
                <a:spcPts val="100"/>
              </a:spcBef>
            </a:pPr>
            <a:r>
              <a:rPr spc="550" dirty="0"/>
              <a:t>Advantages</a:t>
            </a:r>
            <a:r>
              <a:rPr spc="330" dirty="0"/>
              <a:t> </a:t>
            </a:r>
            <a:r>
              <a:rPr spc="580" dirty="0"/>
              <a:t>&amp;</a:t>
            </a:r>
            <a:r>
              <a:rPr spc="330" dirty="0"/>
              <a:t> </a:t>
            </a:r>
            <a:r>
              <a:rPr spc="515" dirty="0"/>
              <a:t>Use</a:t>
            </a:r>
            <a:r>
              <a:rPr spc="335" dirty="0"/>
              <a:t> </a:t>
            </a:r>
            <a:r>
              <a:rPr spc="545" dirty="0"/>
              <a:t>Cases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431" y="1362455"/>
            <a:ext cx="6306820" cy="4715510"/>
            <a:chOff x="27431" y="1362455"/>
            <a:chExt cx="6306820" cy="4715510"/>
          </a:xfrm>
        </p:grpSpPr>
        <p:sp>
          <p:nvSpPr>
            <p:cNvPr id="4" name="object 4"/>
            <p:cNvSpPr/>
            <p:nvPr/>
          </p:nvSpPr>
          <p:spPr>
            <a:xfrm>
              <a:off x="27431" y="1362455"/>
              <a:ext cx="6306820" cy="4715510"/>
            </a:xfrm>
            <a:custGeom>
              <a:avLst/>
              <a:gdLst/>
              <a:ahLst/>
              <a:cxnLst/>
              <a:rect l="l" t="t" r="r" b="b"/>
              <a:pathLst>
                <a:path w="6306820" h="4715510">
                  <a:moveTo>
                    <a:pt x="6306311" y="4715255"/>
                  </a:moveTo>
                  <a:lnTo>
                    <a:pt x="0" y="4715255"/>
                  </a:lnTo>
                  <a:lnTo>
                    <a:pt x="0" y="0"/>
                  </a:lnTo>
                  <a:lnTo>
                    <a:pt x="6306311" y="0"/>
                  </a:lnTo>
                  <a:lnTo>
                    <a:pt x="6306311" y="352043"/>
                  </a:lnTo>
                  <a:lnTo>
                    <a:pt x="582167" y="352043"/>
                  </a:lnTo>
                  <a:lnTo>
                    <a:pt x="567155" y="352769"/>
                  </a:lnTo>
                  <a:lnTo>
                    <a:pt x="523846" y="363644"/>
                  </a:lnTo>
                  <a:lnTo>
                    <a:pt x="485533" y="386577"/>
                  </a:lnTo>
                  <a:lnTo>
                    <a:pt x="455428" y="419759"/>
                  </a:lnTo>
                  <a:lnTo>
                    <a:pt x="436293" y="460270"/>
                  </a:lnTo>
                  <a:lnTo>
                    <a:pt x="429767" y="504443"/>
                  </a:lnTo>
                  <a:lnTo>
                    <a:pt x="429767" y="4057268"/>
                  </a:lnTo>
                  <a:lnTo>
                    <a:pt x="436293" y="4101441"/>
                  </a:lnTo>
                  <a:lnTo>
                    <a:pt x="455428" y="4141953"/>
                  </a:lnTo>
                  <a:lnTo>
                    <a:pt x="485533" y="4175134"/>
                  </a:lnTo>
                  <a:lnTo>
                    <a:pt x="523846" y="4198067"/>
                  </a:lnTo>
                  <a:lnTo>
                    <a:pt x="567155" y="4208943"/>
                  </a:lnTo>
                  <a:lnTo>
                    <a:pt x="582167" y="4209668"/>
                  </a:lnTo>
                  <a:lnTo>
                    <a:pt x="6306311" y="4209668"/>
                  </a:lnTo>
                  <a:lnTo>
                    <a:pt x="6306311" y="4715255"/>
                  </a:lnTo>
                  <a:close/>
                </a:path>
                <a:path w="6306820" h="4715510">
                  <a:moveTo>
                    <a:pt x="6306311" y="4209668"/>
                  </a:moveTo>
                  <a:lnTo>
                    <a:pt x="5725667" y="4209668"/>
                  </a:lnTo>
                  <a:lnTo>
                    <a:pt x="5740680" y="4208943"/>
                  </a:lnTo>
                  <a:lnTo>
                    <a:pt x="5755405" y="4206768"/>
                  </a:lnTo>
                  <a:lnTo>
                    <a:pt x="5797581" y="4191652"/>
                  </a:lnTo>
                  <a:lnTo>
                    <a:pt x="5833430" y="4165031"/>
                  </a:lnTo>
                  <a:lnTo>
                    <a:pt x="5860051" y="4129181"/>
                  </a:lnTo>
                  <a:lnTo>
                    <a:pt x="5875167" y="4087005"/>
                  </a:lnTo>
                  <a:lnTo>
                    <a:pt x="5878067" y="4057268"/>
                  </a:lnTo>
                  <a:lnTo>
                    <a:pt x="5878067" y="504443"/>
                  </a:lnTo>
                  <a:lnTo>
                    <a:pt x="5871541" y="460270"/>
                  </a:lnTo>
                  <a:lnTo>
                    <a:pt x="5852407" y="419759"/>
                  </a:lnTo>
                  <a:lnTo>
                    <a:pt x="5822302" y="386577"/>
                  </a:lnTo>
                  <a:lnTo>
                    <a:pt x="5783988" y="363644"/>
                  </a:lnTo>
                  <a:lnTo>
                    <a:pt x="5740680" y="352769"/>
                  </a:lnTo>
                  <a:lnTo>
                    <a:pt x="5725667" y="352043"/>
                  </a:lnTo>
                  <a:lnTo>
                    <a:pt x="6306311" y="352043"/>
                  </a:lnTo>
                  <a:lnTo>
                    <a:pt x="6306311" y="4209668"/>
                  </a:lnTo>
                  <a:close/>
                </a:path>
              </a:pathLst>
            </a:custGeom>
            <a:solidFill>
              <a:srgbClr val="0000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7199" y="1714499"/>
              <a:ext cx="5448300" cy="3857625"/>
            </a:xfrm>
            <a:custGeom>
              <a:avLst/>
              <a:gdLst/>
              <a:ahLst/>
              <a:cxnLst/>
              <a:rect l="l" t="t" r="r" b="b"/>
              <a:pathLst>
                <a:path w="5448300" h="3857625">
                  <a:moveTo>
                    <a:pt x="5295899" y="3857624"/>
                  </a:moveTo>
                  <a:lnTo>
                    <a:pt x="152399" y="3857624"/>
                  </a:lnTo>
                  <a:lnTo>
                    <a:pt x="137387" y="3856899"/>
                  </a:lnTo>
                  <a:lnTo>
                    <a:pt x="94078" y="3846023"/>
                  </a:lnTo>
                  <a:lnTo>
                    <a:pt x="55765" y="3823090"/>
                  </a:lnTo>
                  <a:lnTo>
                    <a:pt x="25660" y="3789908"/>
                  </a:lnTo>
                  <a:lnTo>
                    <a:pt x="6525" y="3749397"/>
                  </a:lnTo>
                  <a:lnTo>
                    <a:pt x="0" y="370522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295899" y="0"/>
                  </a:lnTo>
                  <a:lnTo>
                    <a:pt x="5340072" y="6525"/>
                  </a:lnTo>
                  <a:lnTo>
                    <a:pt x="5380584" y="25659"/>
                  </a:lnTo>
                  <a:lnTo>
                    <a:pt x="5413765" y="55765"/>
                  </a:lnTo>
                  <a:lnTo>
                    <a:pt x="5436698" y="94078"/>
                  </a:lnTo>
                  <a:lnTo>
                    <a:pt x="5447574" y="137387"/>
                  </a:lnTo>
                  <a:lnTo>
                    <a:pt x="5448299" y="152399"/>
                  </a:lnTo>
                  <a:lnTo>
                    <a:pt x="5448299" y="3705224"/>
                  </a:lnTo>
                  <a:lnTo>
                    <a:pt x="5441773" y="3749397"/>
                  </a:lnTo>
                  <a:lnTo>
                    <a:pt x="5422639" y="3789908"/>
                  </a:lnTo>
                  <a:lnTo>
                    <a:pt x="5392534" y="3823090"/>
                  </a:lnTo>
                  <a:lnTo>
                    <a:pt x="5354220" y="3846023"/>
                  </a:lnTo>
                  <a:lnTo>
                    <a:pt x="5310912" y="3856899"/>
                  </a:lnTo>
                  <a:lnTo>
                    <a:pt x="5295899" y="3857624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1714499"/>
              <a:ext cx="5448300" cy="3857625"/>
            </a:xfrm>
            <a:custGeom>
              <a:avLst/>
              <a:gdLst/>
              <a:ahLst/>
              <a:cxnLst/>
              <a:rect l="l" t="t" r="r" b="b"/>
              <a:pathLst>
                <a:path w="5448300" h="3857625">
                  <a:moveTo>
                    <a:pt x="5295899" y="3857624"/>
                  </a:moveTo>
                  <a:lnTo>
                    <a:pt x="152399" y="3857624"/>
                  </a:lnTo>
                  <a:lnTo>
                    <a:pt x="137387" y="3856899"/>
                  </a:lnTo>
                  <a:lnTo>
                    <a:pt x="94078" y="3846023"/>
                  </a:lnTo>
                  <a:lnTo>
                    <a:pt x="55765" y="3823090"/>
                  </a:lnTo>
                  <a:lnTo>
                    <a:pt x="25660" y="3789909"/>
                  </a:lnTo>
                  <a:lnTo>
                    <a:pt x="6525" y="3749397"/>
                  </a:lnTo>
                  <a:lnTo>
                    <a:pt x="0" y="3705224"/>
                  </a:lnTo>
                  <a:lnTo>
                    <a:pt x="0" y="152399"/>
                  </a:lnTo>
                  <a:lnTo>
                    <a:pt x="676" y="138395"/>
                  </a:lnTo>
                  <a:lnTo>
                    <a:pt x="725" y="137387"/>
                  </a:lnTo>
                  <a:lnTo>
                    <a:pt x="11600" y="94078"/>
                  </a:lnTo>
                  <a:lnTo>
                    <a:pt x="34533" y="55765"/>
                  </a:lnTo>
                  <a:lnTo>
                    <a:pt x="67715" y="25659"/>
                  </a:lnTo>
                  <a:lnTo>
                    <a:pt x="108226" y="6525"/>
                  </a:lnTo>
                  <a:lnTo>
                    <a:pt x="152399" y="0"/>
                  </a:lnTo>
                  <a:lnTo>
                    <a:pt x="5295899" y="0"/>
                  </a:lnTo>
                  <a:lnTo>
                    <a:pt x="5310912" y="725"/>
                  </a:lnTo>
                  <a:lnTo>
                    <a:pt x="5325637" y="2900"/>
                  </a:lnTo>
                  <a:lnTo>
                    <a:pt x="5340073" y="6525"/>
                  </a:lnTo>
                  <a:lnTo>
                    <a:pt x="53484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2"/>
                  </a:lnTo>
                  <a:lnTo>
                    <a:pt x="67282" y="37645"/>
                  </a:lnTo>
                  <a:lnTo>
                    <a:pt x="37645" y="67281"/>
                  </a:lnTo>
                  <a:lnTo>
                    <a:pt x="17873" y="104274"/>
                  </a:lnTo>
                  <a:lnTo>
                    <a:pt x="10335" y="137387"/>
                  </a:lnTo>
                  <a:lnTo>
                    <a:pt x="10211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3705224"/>
                  </a:lnTo>
                  <a:lnTo>
                    <a:pt x="15675" y="3746699"/>
                  </a:lnTo>
                  <a:lnTo>
                    <a:pt x="33603" y="3784600"/>
                  </a:lnTo>
                  <a:lnTo>
                    <a:pt x="61759" y="3815668"/>
                  </a:lnTo>
                  <a:lnTo>
                    <a:pt x="97723" y="3837222"/>
                  </a:lnTo>
                  <a:lnTo>
                    <a:pt x="138395" y="3847412"/>
                  </a:lnTo>
                  <a:lnTo>
                    <a:pt x="152399" y="3848099"/>
                  </a:lnTo>
                  <a:lnTo>
                    <a:pt x="5348433" y="3848099"/>
                  </a:lnTo>
                  <a:lnTo>
                    <a:pt x="5340072" y="3851099"/>
                  </a:lnTo>
                  <a:lnTo>
                    <a:pt x="5325637" y="3854724"/>
                  </a:lnTo>
                  <a:lnTo>
                    <a:pt x="5310912" y="3856899"/>
                  </a:lnTo>
                  <a:lnTo>
                    <a:pt x="5295899" y="3857624"/>
                  </a:lnTo>
                  <a:close/>
                </a:path>
                <a:path w="5448300" h="3857625">
                  <a:moveTo>
                    <a:pt x="5348433" y="3848099"/>
                  </a:moveTo>
                  <a:lnTo>
                    <a:pt x="5295899" y="3848099"/>
                  </a:lnTo>
                  <a:lnTo>
                    <a:pt x="5302918" y="3847927"/>
                  </a:lnTo>
                  <a:lnTo>
                    <a:pt x="5309903" y="3847412"/>
                  </a:lnTo>
                  <a:lnTo>
                    <a:pt x="5350574" y="3837222"/>
                  </a:lnTo>
                  <a:lnTo>
                    <a:pt x="5386539" y="3815668"/>
                  </a:lnTo>
                  <a:lnTo>
                    <a:pt x="5414695" y="3784600"/>
                  </a:lnTo>
                  <a:lnTo>
                    <a:pt x="5432622" y="3746699"/>
                  </a:lnTo>
                  <a:lnTo>
                    <a:pt x="5437963" y="3720237"/>
                  </a:lnTo>
                  <a:lnTo>
                    <a:pt x="5438087" y="3719228"/>
                  </a:lnTo>
                  <a:lnTo>
                    <a:pt x="5438602" y="3712243"/>
                  </a:lnTo>
                  <a:lnTo>
                    <a:pt x="5438774" y="3705224"/>
                  </a:lnTo>
                  <a:lnTo>
                    <a:pt x="5438774" y="152399"/>
                  </a:lnTo>
                  <a:lnTo>
                    <a:pt x="5432622" y="110924"/>
                  </a:lnTo>
                  <a:lnTo>
                    <a:pt x="5414695" y="73022"/>
                  </a:lnTo>
                  <a:lnTo>
                    <a:pt x="5386539" y="41954"/>
                  </a:lnTo>
                  <a:lnTo>
                    <a:pt x="5350574" y="20400"/>
                  </a:lnTo>
                  <a:lnTo>
                    <a:pt x="5309903" y="10211"/>
                  </a:lnTo>
                  <a:lnTo>
                    <a:pt x="5295899" y="9524"/>
                  </a:lnTo>
                  <a:lnTo>
                    <a:pt x="5348434" y="9524"/>
                  </a:lnTo>
                  <a:lnTo>
                    <a:pt x="5392534" y="34533"/>
                  </a:lnTo>
                  <a:lnTo>
                    <a:pt x="5422639" y="67715"/>
                  </a:lnTo>
                  <a:lnTo>
                    <a:pt x="5441773" y="108226"/>
                  </a:lnTo>
                  <a:lnTo>
                    <a:pt x="5448299" y="152399"/>
                  </a:lnTo>
                  <a:lnTo>
                    <a:pt x="5448299" y="3705224"/>
                  </a:lnTo>
                  <a:lnTo>
                    <a:pt x="5447623" y="3719228"/>
                  </a:lnTo>
                  <a:lnTo>
                    <a:pt x="5436698" y="3763545"/>
                  </a:lnTo>
                  <a:lnTo>
                    <a:pt x="5413765" y="3801859"/>
                  </a:lnTo>
                  <a:lnTo>
                    <a:pt x="5380584" y="3831964"/>
                  </a:lnTo>
                  <a:lnTo>
                    <a:pt x="5354220" y="3846023"/>
                  </a:lnTo>
                  <a:lnTo>
                    <a:pt x="5348433" y="3848099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1049" y="2117724"/>
              <a:ext cx="282575" cy="2730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73162" y="2044700"/>
            <a:ext cx="2058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320" dirty="0">
                <a:solidFill>
                  <a:srgbClr val="00D4FF"/>
                </a:solidFill>
                <a:latin typeface="Trebuchet MS"/>
                <a:cs typeface="Trebuchet MS"/>
              </a:rPr>
              <a:t>Advantages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1524" y="1362455"/>
            <a:ext cx="11393170" cy="4715510"/>
            <a:chOff x="771524" y="1362455"/>
            <a:chExt cx="11393170" cy="47155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4" y="2765424"/>
              <a:ext cx="190500" cy="1936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1524" y="3238499"/>
              <a:ext cx="215900" cy="1428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1524" y="3673474"/>
              <a:ext cx="190500" cy="1682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1524" y="4117974"/>
              <a:ext cx="190500" cy="1936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1524" y="4565649"/>
              <a:ext cx="190500" cy="1936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1524" y="5013324"/>
              <a:ext cx="238125" cy="1936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858255" y="1362455"/>
              <a:ext cx="6306820" cy="4715510"/>
            </a:xfrm>
            <a:custGeom>
              <a:avLst/>
              <a:gdLst/>
              <a:ahLst/>
              <a:cxnLst/>
              <a:rect l="l" t="t" r="r" b="b"/>
              <a:pathLst>
                <a:path w="6306820" h="4715510">
                  <a:moveTo>
                    <a:pt x="6306311" y="4715255"/>
                  </a:moveTo>
                  <a:lnTo>
                    <a:pt x="0" y="4715255"/>
                  </a:lnTo>
                  <a:lnTo>
                    <a:pt x="0" y="0"/>
                  </a:lnTo>
                  <a:lnTo>
                    <a:pt x="6306311" y="0"/>
                  </a:lnTo>
                  <a:lnTo>
                    <a:pt x="6306311" y="352043"/>
                  </a:lnTo>
                  <a:lnTo>
                    <a:pt x="580643" y="352043"/>
                  </a:lnTo>
                  <a:lnTo>
                    <a:pt x="565630" y="352769"/>
                  </a:lnTo>
                  <a:lnTo>
                    <a:pt x="522322" y="363644"/>
                  </a:lnTo>
                  <a:lnTo>
                    <a:pt x="484008" y="386577"/>
                  </a:lnTo>
                  <a:lnTo>
                    <a:pt x="453903" y="419759"/>
                  </a:lnTo>
                  <a:lnTo>
                    <a:pt x="434768" y="460270"/>
                  </a:lnTo>
                  <a:lnTo>
                    <a:pt x="428243" y="504443"/>
                  </a:lnTo>
                  <a:lnTo>
                    <a:pt x="428243" y="4057268"/>
                  </a:lnTo>
                  <a:lnTo>
                    <a:pt x="434768" y="4101441"/>
                  </a:lnTo>
                  <a:lnTo>
                    <a:pt x="453903" y="4141953"/>
                  </a:lnTo>
                  <a:lnTo>
                    <a:pt x="484008" y="4175134"/>
                  </a:lnTo>
                  <a:lnTo>
                    <a:pt x="522322" y="4198067"/>
                  </a:lnTo>
                  <a:lnTo>
                    <a:pt x="565630" y="4208943"/>
                  </a:lnTo>
                  <a:lnTo>
                    <a:pt x="580643" y="4209668"/>
                  </a:lnTo>
                  <a:lnTo>
                    <a:pt x="6306311" y="4209668"/>
                  </a:lnTo>
                  <a:lnTo>
                    <a:pt x="6306311" y="4715255"/>
                  </a:lnTo>
                  <a:close/>
                </a:path>
                <a:path w="6306820" h="4715510">
                  <a:moveTo>
                    <a:pt x="6306311" y="4209668"/>
                  </a:moveTo>
                  <a:lnTo>
                    <a:pt x="5724143" y="4209668"/>
                  </a:lnTo>
                  <a:lnTo>
                    <a:pt x="5739156" y="4208943"/>
                  </a:lnTo>
                  <a:lnTo>
                    <a:pt x="5753880" y="4206768"/>
                  </a:lnTo>
                  <a:lnTo>
                    <a:pt x="5796056" y="4191652"/>
                  </a:lnTo>
                  <a:lnTo>
                    <a:pt x="5831906" y="4165031"/>
                  </a:lnTo>
                  <a:lnTo>
                    <a:pt x="5858527" y="4129181"/>
                  </a:lnTo>
                  <a:lnTo>
                    <a:pt x="5873642" y="4087005"/>
                  </a:lnTo>
                  <a:lnTo>
                    <a:pt x="5876543" y="4057268"/>
                  </a:lnTo>
                  <a:lnTo>
                    <a:pt x="5876543" y="504443"/>
                  </a:lnTo>
                  <a:lnTo>
                    <a:pt x="5870017" y="460270"/>
                  </a:lnTo>
                  <a:lnTo>
                    <a:pt x="5850883" y="419759"/>
                  </a:lnTo>
                  <a:lnTo>
                    <a:pt x="5820777" y="386577"/>
                  </a:lnTo>
                  <a:lnTo>
                    <a:pt x="5782464" y="363644"/>
                  </a:lnTo>
                  <a:lnTo>
                    <a:pt x="5739156" y="352769"/>
                  </a:lnTo>
                  <a:lnTo>
                    <a:pt x="5724143" y="352043"/>
                  </a:lnTo>
                  <a:lnTo>
                    <a:pt x="6306311" y="352043"/>
                  </a:lnTo>
                  <a:lnTo>
                    <a:pt x="6306311" y="4209668"/>
                  </a:lnTo>
                  <a:close/>
                </a:path>
              </a:pathLst>
            </a:custGeom>
            <a:solidFill>
              <a:srgbClr val="0000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86499" y="1714499"/>
              <a:ext cx="5448300" cy="3857625"/>
            </a:xfrm>
            <a:custGeom>
              <a:avLst/>
              <a:gdLst/>
              <a:ahLst/>
              <a:cxnLst/>
              <a:rect l="l" t="t" r="r" b="b"/>
              <a:pathLst>
                <a:path w="5448300" h="3857625">
                  <a:moveTo>
                    <a:pt x="5295899" y="3857624"/>
                  </a:moveTo>
                  <a:lnTo>
                    <a:pt x="152399" y="3857624"/>
                  </a:lnTo>
                  <a:lnTo>
                    <a:pt x="137386" y="3856899"/>
                  </a:lnTo>
                  <a:lnTo>
                    <a:pt x="94078" y="3846023"/>
                  </a:lnTo>
                  <a:lnTo>
                    <a:pt x="55764" y="3823090"/>
                  </a:lnTo>
                  <a:lnTo>
                    <a:pt x="25659" y="3789908"/>
                  </a:lnTo>
                  <a:lnTo>
                    <a:pt x="6524" y="3749397"/>
                  </a:lnTo>
                  <a:lnTo>
                    <a:pt x="0" y="370522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5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295899" y="0"/>
                  </a:lnTo>
                  <a:lnTo>
                    <a:pt x="5340072" y="6525"/>
                  </a:lnTo>
                  <a:lnTo>
                    <a:pt x="5380583" y="25659"/>
                  </a:lnTo>
                  <a:lnTo>
                    <a:pt x="5413765" y="55765"/>
                  </a:lnTo>
                  <a:lnTo>
                    <a:pt x="5436697" y="94078"/>
                  </a:lnTo>
                  <a:lnTo>
                    <a:pt x="5447574" y="137387"/>
                  </a:lnTo>
                  <a:lnTo>
                    <a:pt x="5448299" y="152399"/>
                  </a:lnTo>
                  <a:lnTo>
                    <a:pt x="5448299" y="3705224"/>
                  </a:lnTo>
                  <a:lnTo>
                    <a:pt x="5441773" y="3749397"/>
                  </a:lnTo>
                  <a:lnTo>
                    <a:pt x="5422638" y="3789908"/>
                  </a:lnTo>
                  <a:lnTo>
                    <a:pt x="5392533" y="3823090"/>
                  </a:lnTo>
                  <a:lnTo>
                    <a:pt x="5354220" y="3846023"/>
                  </a:lnTo>
                  <a:lnTo>
                    <a:pt x="5310912" y="3856899"/>
                  </a:lnTo>
                  <a:lnTo>
                    <a:pt x="5295899" y="3857624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86499" y="1714499"/>
              <a:ext cx="5448300" cy="3857625"/>
            </a:xfrm>
            <a:custGeom>
              <a:avLst/>
              <a:gdLst/>
              <a:ahLst/>
              <a:cxnLst/>
              <a:rect l="l" t="t" r="r" b="b"/>
              <a:pathLst>
                <a:path w="5448300" h="3857625">
                  <a:moveTo>
                    <a:pt x="5295899" y="3857624"/>
                  </a:moveTo>
                  <a:lnTo>
                    <a:pt x="152399" y="3857624"/>
                  </a:lnTo>
                  <a:lnTo>
                    <a:pt x="137386" y="3856899"/>
                  </a:lnTo>
                  <a:lnTo>
                    <a:pt x="94078" y="3846023"/>
                  </a:lnTo>
                  <a:lnTo>
                    <a:pt x="55764" y="3823090"/>
                  </a:lnTo>
                  <a:lnTo>
                    <a:pt x="25659" y="3789909"/>
                  </a:lnTo>
                  <a:lnTo>
                    <a:pt x="6524" y="3749397"/>
                  </a:lnTo>
                  <a:lnTo>
                    <a:pt x="0" y="370522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5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295899" y="0"/>
                  </a:lnTo>
                  <a:lnTo>
                    <a:pt x="5310912" y="725"/>
                  </a:lnTo>
                  <a:lnTo>
                    <a:pt x="5325636" y="2900"/>
                  </a:lnTo>
                  <a:lnTo>
                    <a:pt x="5340072" y="6525"/>
                  </a:lnTo>
                  <a:lnTo>
                    <a:pt x="53484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3" y="17872"/>
                  </a:lnTo>
                  <a:lnTo>
                    <a:pt x="67281" y="37645"/>
                  </a:lnTo>
                  <a:lnTo>
                    <a:pt x="37644" y="67281"/>
                  </a:lnTo>
                  <a:lnTo>
                    <a:pt x="17872" y="104274"/>
                  </a:lnTo>
                  <a:lnTo>
                    <a:pt x="10335" y="137387"/>
                  </a:lnTo>
                  <a:lnTo>
                    <a:pt x="10210" y="138395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3705224"/>
                  </a:lnTo>
                  <a:lnTo>
                    <a:pt x="15674" y="3746699"/>
                  </a:lnTo>
                  <a:lnTo>
                    <a:pt x="33602" y="3784600"/>
                  </a:lnTo>
                  <a:lnTo>
                    <a:pt x="61759" y="3815668"/>
                  </a:lnTo>
                  <a:lnTo>
                    <a:pt x="97723" y="3837222"/>
                  </a:lnTo>
                  <a:lnTo>
                    <a:pt x="138394" y="3847412"/>
                  </a:lnTo>
                  <a:lnTo>
                    <a:pt x="152399" y="3848099"/>
                  </a:lnTo>
                  <a:lnTo>
                    <a:pt x="5348433" y="3848099"/>
                  </a:lnTo>
                  <a:lnTo>
                    <a:pt x="5340072" y="3851099"/>
                  </a:lnTo>
                  <a:lnTo>
                    <a:pt x="5325636" y="3854724"/>
                  </a:lnTo>
                  <a:lnTo>
                    <a:pt x="5310912" y="3856899"/>
                  </a:lnTo>
                  <a:lnTo>
                    <a:pt x="5295899" y="3857624"/>
                  </a:lnTo>
                  <a:close/>
                </a:path>
                <a:path w="5448300" h="3857625">
                  <a:moveTo>
                    <a:pt x="5348433" y="3848099"/>
                  </a:moveTo>
                  <a:lnTo>
                    <a:pt x="5295899" y="3848099"/>
                  </a:lnTo>
                  <a:lnTo>
                    <a:pt x="5302917" y="3847927"/>
                  </a:lnTo>
                  <a:lnTo>
                    <a:pt x="5309903" y="3847412"/>
                  </a:lnTo>
                  <a:lnTo>
                    <a:pt x="5350573" y="3837222"/>
                  </a:lnTo>
                  <a:lnTo>
                    <a:pt x="5386537" y="3815668"/>
                  </a:lnTo>
                  <a:lnTo>
                    <a:pt x="5414695" y="3784600"/>
                  </a:lnTo>
                  <a:lnTo>
                    <a:pt x="5432622" y="3746699"/>
                  </a:lnTo>
                  <a:lnTo>
                    <a:pt x="5438774" y="3705224"/>
                  </a:lnTo>
                  <a:lnTo>
                    <a:pt x="5438774" y="152399"/>
                  </a:lnTo>
                  <a:lnTo>
                    <a:pt x="5432622" y="110924"/>
                  </a:lnTo>
                  <a:lnTo>
                    <a:pt x="5414695" y="73022"/>
                  </a:lnTo>
                  <a:lnTo>
                    <a:pt x="5386537" y="41954"/>
                  </a:lnTo>
                  <a:lnTo>
                    <a:pt x="5350573" y="20400"/>
                  </a:lnTo>
                  <a:lnTo>
                    <a:pt x="5309903" y="10211"/>
                  </a:lnTo>
                  <a:lnTo>
                    <a:pt x="5295899" y="9524"/>
                  </a:lnTo>
                  <a:lnTo>
                    <a:pt x="5348434" y="9524"/>
                  </a:lnTo>
                  <a:lnTo>
                    <a:pt x="5392533" y="34533"/>
                  </a:lnTo>
                  <a:lnTo>
                    <a:pt x="5422638" y="67715"/>
                  </a:lnTo>
                  <a:lnTo>
                    <a:pt x="5441773" y="108226"/>
                  </a:lnTo>
                  <a:lnTo>
                    <a:pt x="5448299" y="152399"/>
                  </a:lnTo>
                  <a:lnTo>
                    <a:pt x="5448299" y="3705224"/>
                  </a:lnTo>
                  <a:lnTo>
                    <a:pt x="5447623" y="3719228"/>
                  </a:lnTo>
                  <a:lnTo>
                    <a:pt x="5436698" y="3763545"/>
                  </a:lnTo>
                  <a:lnTo>
                    <a:pt x="5413765" y="3801859"/>
                  </a:lnTo>
                  <a:lnTo>
                    <a:pt x="5380583" y="3831964"/>
                  </a:lnTo>
                  <a:lnTo>
                    <a:pt x="5354220" y="3846023"/>
                  </a:lnTo>
                  <a:lnTo>
                    <a:pt x="5348433" y="3848099"/>
                  </a:lnTo>
                  <a:close/>
                </a:path>
              </a:pathLst>
            </a:custGeom>
            <a:solidFill>
              <a:srgbClr val="00D4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07174" y="2117724"/>
              <a:ext cx="187325" cy="26987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82675" y="2759075"/>
            <a:ext cx="3935729" cy="24676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Highly</a:t>
            </a:r>
            <a:r>
              <a:rPr sz="12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modular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150" dirty="0">
                <a:solidFill>
                  <a:srgbClr val="A0AEBF"/>
                </a:solidFill>
                <a:latin typeface="Microsoft Sans Serif"/>
                <a:cs typeface="Microsoft Sans Serif"/>
              </a:rPr>
              <a:t>&amp;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scalable</a:t>
            </a:r>
            <a:endParaRPr sz="1250">
              <a:latin typeface="Microsoft Sans Serif"/>
              <a:cs typeface="Microsoft Sans Serif"/>
            </a:endParaRPr>
          </a:p>
          <a:p>
            <a:pPr marL="12700" marR="5080" indent="23495">
              <a:lnSpc>
                <a:spcPct val="235000"/>
              </a:lnSpc>
            </a:pPr>
            <a:r>
              <a:rPr sz="1250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Tracks</a:t>
            </a:r>
            <a:r>
              <a:rPr sz="1250" spc="13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multiple</a:t>
            </a:r>
            <a:r>
              <a:rPr sz="1250" spc="13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objects</a:t>
            </a:r>
            <a:r>
              <a:rPr sz="1250" spc="13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across</a:t>
            </a:r>
            <a:r>
              <a:rPr sz="1250" spc="13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multiple</a:t>
            </a:r>
            <a:r>
              <a:rPr sz="1250" spc="13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cameras 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Smooth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tracking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even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with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occlusions</a:t>
            </a:r>
            <a:endParaRPr sz="1250">
              <a:latin typeface="Microsoft Sans Serif"/>
              <a:cs typeface="Microsoft Sans Serif"/>
            </a:endParaRPr>
          </a:p>
          <a:p>
            <a:pPr marL="12700" marR="323850">
              <a:lnSpc>
                <a:spcPct val="235000"/>
              </a:lnSpc>
              <a:spcBef>
                <a:spcPts val="75"/>
              </a:spcBef>
            </a:pPr>
            <a:r>
              <a:rPr sz="1250" dirty="0">
                <a:solidFill>
                  <a:srgbClr val="A0AEBF"/>
                </a:solidFill>
                <a:latin typeface="Microsoft Sans Serif"/>
                <a:cs typeface="Microsoft Sans Serif"/>
              </a:rPr>
              <a:t>Real-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world</a:t>
            </a:r>
            <a:r>
              <a:rPr sz="1250" spc="14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metrics:</a:t>
            </a:r>
            <a:r>
              <a:rPr sz="1250" spc="15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distance,</a:t>
            </a:r>
            <a:r>
              <a:rPr sz="1250" spc="14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velocity,</a:t>
            </a:r>
            <a:r>
              <a:rPr sz="1250" spc="15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angle Global</a:t>
            </a:r>
            <a:r>
              <a:rPr sz="1250" spc="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tracking</a:t>
            </a:r>
            <a:r>
              <a:rPr sz="1250" spc="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dirty="0">
                <a:solidFill>
                  <a:srgbClr val="A0AEBF"/>
                </a:solidFill>
                <a:latin typeface="Microsoft Sans Serif"/>
                <a:cs typeface="Microsoft Sans Serif"/>
              </a:rPr>
              <a:t>IDs</a:t>
            </a:r>
            <a:r>
              <a:rPr sz="1250" spc="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60" dirty="0">
                <a:solidFill>
                  <a:srgbClr val="A0AEBF"/>
                </a:solidFill>
                <a:latin typeface="Microsoft Sans Serif"/>
                <a:cs typeface="Microsoft Sans Serif"/>
              </a:rPr>
              <a:t>across</a:t>
            </a:r>
            <a:r>
              <a:rPr sz="1250" spc="12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cameras</a:t>
            </a:r>
            <a:endParaRPr sz="1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59690">
              <a:lnSpc>
                <a:spcPct val="100000"/>
              </a:lnSpc>
            </a:pPr>
            <a:r>
              <a:rPr sz="12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Ideal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for </a:t>
            </a:r>
            <a:r>
              <a:rPr sz="12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robotics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experiments</a:t>
            </a:r>
            <a:endParaRPr sz="125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02450" y="2044700"/>
            <a:ext cx="1766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305" dirty="0">
                <a:solidFill>
                  <a:srgbClr val="00D4FF"/>
                </a:solidFill>
                <a:latin typeface="Trebuchet MS"/>
                <a:cs typeface="Trebuchet MS"/>
              </a:rPr>
              <a:t>Use</a:t>
            </a:r>
            <a:r>
              <a:rPr sz="2400" b="1" spc="12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2400" b="1" spc="320" dirty="0">
                <a:solidFill>
                  <a:srgbClr val="00D4FF"/>
                </a:solidFill>
                <a:latin typeface="Trebuchet MS"/>
                <a:cs typeface="Trebuchet MS"/>
              </a:rPr>
              <a:t>Cases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00825" y="2765424"/>
            <a:ext cx="238125" cy="1993900"/>
            <a:chOff x="6600825" y="2765424"/>
            <a:chExt cx="238125" cy="199390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00825" y="2765424"/>
              <a:ext cx="238125" cy="1936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04000" y="3213099"/>
              <a:ext cx="184150" cy="1936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00825" y="3660774"/>
              <a:ext cx="190500" cy="19367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00825" y="4130674"/>
              <a:ext cx="190500" cy="1682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00825" y="4565649"/>
              <a:ext cx="190500" cy="19367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911975" y="2759075"/>
            <a:ext cx="3746500" cy="2019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25"/>
              </a:spcBef>
            </a:pPr>
            <a:r>
              <a:rPr sz="12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Autonomous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drones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(follow-</a:t>
            </a:r>
            <a:r>
              <a:rPr sz="125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me,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surveillance)</a:t>
            </a:r>
            <a:endParaRPr sz="1250">
              <a:latin typeface="Microsoft Sans Serif"/>
              <a:cs typeface="Microsoft Sans Serif"/>
            </a:endParaRPr>
          </a:p>
          <a:p>
            <a:pPr marL="12700" marR="1240790">
              <a:lnSpc>
                <a:spcPct val="235000"/>
              </a:lnSpc>
            </a:pPr>
            <a:r>
              <a:rPr sz="12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Multi-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2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security</a:t>
            </a:r>
            <a:r>
              <a:rPr sz="12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systems </a:t>
            </a:r>
            <a:r>
              <a:rPr sz="125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Aerial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80" dirty="0">
                <a:solidFill>
                  <a:srgbClr val="A0AEBF"/>
                </a:solidFill>
                <a:latin typeface="Microsoft Sans Serif"/>
                <a:cs typeface="Microsoft Sans Serif"/>
              </a:rPr>
              <a:t>robotics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65" dirty="0">
                <a:solidFill>
                  <a:srgbClr val="A0AEBF"/>
                </a:solidFill>
                <a:latin typeface="Microsoft Sans Serif"/>
                <a:cs typeface="Microsoft Sans Serif"/>
              </a:rPr>
              <a:t>research</a:t>
            </a:r>
            <a:endParaRPr sz="1250">
              <a:latin typeface="Microsoft Sans Serif"/>
              <a:cs typeface="Microsoft Sans Serif"/>
            </a:endParaRPr>
          </a:p>
          <a:p>
            <a:pPr marL="12700" marR="151765">
              <a:lnSpc>
                <a:spcPct val="235000"/>
              </a:lnSpc>
              <a:spcBef>
                <a:spcPts val="75"/>
              </a:spcBef>
            </a:pPr>
            <a:r>
              <a:rPr sz="1250" spc="45" dirty="0">
                <a:solidFill>
                  <a:srgbClr val="A0AEBF"/>
                </a:solidFill>
                <a:latin typeface="Microsoft Sans Serif"/>
                <a:cs typeface="Microsoft Sans Serif"/>
              </a:rPr>
              <a:t>Traffic</a:t>
            </a:r>
            <a:r>
              <a:rPr sz="1250" spc="95" dirty="0">
                <a:solidFill>
                  <a:srgbClr val="A0AEBF"/>
                </a:solidFill>
                <a:latin typeface="Microsoft Sans Serif"/>
                <a:cs typeface="Microsoft Sans Serif"/>
              </a:rPr>
              <a:t> tracking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(vehicles,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pedestrians) </a:t>
            </a:r>
            <a:r>
              <a:rPr sz="1250" spc="70" dirty="0">
                <a:solidFill>
                  <a:srgbClr val="A0AEBF"/>
                </a:solidFill>
                <a:latin typeface="Microsoft Sans Serif"/>
                <a:cs typeface="Microsoft Sans Serif"/>
              </a:rPr>
              <a:t>Sports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analytics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110" dirty="0">
                <a:solidFill>
                  <a:srgbClr val="A0AEBF"/>
                </a:solidFill>
                <a:latin typeface="Microsoft Sans Serif"/>
                <a:cs typeface="Microsoft Sans Serif"/>
              </a:rPr>
              <a:t>with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multiple</a:t>
            </a:r>
            <a:r>
              <a:rPr sz="1250" spc="9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100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250" spc="8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250" spc="75" dirty="0">
                <a:solidFill>
                  <a:srgbClr val="A0AEBF"/>
                </a:solidFill>
                <a:latin typeface="Microsoft Sans Serif"/>
                <a:cs typeface="Microsoft Sans Serif"/>
              </a:rPr>
              <a:t>views</a:t>
            </a:r>
            <a:endParaRPr sz="1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25"/>
              </a:spcBef>
            </a:pPr>
            <a:r>
              <a:rPr sz="7800" spc="-305" dirty="0">
                <a:latin typeface="Arial"/>
                <a:cs typeface="Arial"/>
              </a:rPr>
              <a:t>Thank</a:t>
            </a:r>
            <a:r>
              <a:rPr sz="7800" spc="-760" dirty="0">
                <a:latin typeface="Arial"/>
                <a:cs typeface="Arial"/>
              </a:rPr>
              <a:t> </a:t>
            </a:r>
            <a:r>
              <a:rPr sz="7800" spc="-1160" dirty="0">
                <a:latin typeface="Arial"/>
                <a:cs typeface="Arial"/>
              </a:rPr>
              <a:t>Y</a:t>
            </a:r>
            <a:r>
              <a:rPr sz="7800" spc="-390" dirty="0">
                <a:latin typeface="Arial"/>
                <a:cs typeface="Arial"/>
              </a:rPr>
              <a:t>o</a:t>
            </a:r>
            <a:r>
              <a:rPr sz="7800" spc="-225" dirty="0">
                <a:latin typeface="Arial"/>
                <a:cs typeface="Arial"/>
              </a:rPr>
              <a:t>u</a:t>
            </a:r>
            <a:endParaRPr sz="7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499" y="4448175"/>
            <a:ext cx="1904999" cy="380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14203" y="4850603"/>
            <a:ext cx="556387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40" dirty="0">
                <a:solidFill>
                  <a:srgbClr val="A0AEBF"/>
                </a:solidFill>
                <a:latin typeface="Microsoft Sans Serif"/>
                <a:cs typeface="Microsoft Sans Serif"/>
              </a:rPr>
              <a:t>Aerial</a:t>
            </a:r>
            <a:r>
              <a:rPr sz="19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950" spc="-35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</a:t>
            </a:r>
            <a:r>
              <a:rPr sz="1950" spc="-35" dirty="0">
                <a:solidFill>
                  <a:srgbClr val="A0AEBF"/>
                </a:solidFill>
                <a:latin typeface="Roboto"/>
                <a:cs typeface="Roboto"/>
              </a:rPr>
              <a:t>-</a:t>
            </a:r>
            <a:r>
              <a:rPr sz="1950" spc="-20" dirty="0">
                <a:solidFill>
                  <a:srgbClr val="A0AEBF"/>
                </a:solidFill>
                <a:latin typeface="Microsoft Sans Serif"/>
                <a:cs typeface="Microsoft Sans Serif"/>
              </a:rPr>
              <a:t>Object</a:t>
            </a:r>
            <a:r>
              <a:rPr sz="1950" spc="-1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A0AEBF"/>
                </a:solidFill>
                <a:latin typeface="Roboto"/>
                <a:cs typeface="Roboto"/>
              </a:rPr>
              <a:t>&amp;</a:t>
            </a:r>
            <a:r>
              <a:rPr sz="1950" spc="-25" dirty="0">
                <a:solidFill>
                  <a:srgbClr val="A0AEBF"/>
                </a:solidFill>
                <a:latin typeface="Roboto"/>
                <a:cs typeface="Roboto"/>
              </a:rPr>
              <a:t> </a:t>
            </a:r>
            <a:r>
              <a:rPr sz="1950" spc="-35" dirty="0">
                <a:solidFill>
                  <a:srgbClr val="A0AEBF"/>
                </a:solidFill>
                <a:latin typeface="Microsoft Sans Serif"/>
                <a:cs typeface="Microsoft Sans Serif"/>
              </a:rPr>
              <a:t>Multi</a:t>
            </a:r>
            <a:r>
              <a:rPr sz="1950" spc="-35" dirty="0">
                <a:solidFill>
                  <a:srgbClr val="A0AEBF"/>
                </a:solidFill>
                <a:latin typeface="Roboto"/>
                <a:cs typeface="Roboto"/>
              </a:rPr>
              <a:t>-</a:t>
            </a:r>
            <a:r>
              <a:rPr sz="1950" spc="-65" dirty="0">
                <a:solidFill>
                  <a:srgbClr val="A0AEBF"/>
                </a:solidFill>
                <a:latin typeface="Microsoft Sans Serif"/>
                <a:cs typeface="Microsoft Sans Serif"/>
              </a:rPr>
              <a:t>Camera</a:t>
            </a:r>
            <a:r>
              <a:rPr sz="1950" spc="-55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950" spc="-35" dirty="0">
                <a:solidFill>
                  <a:srgbClr val="A0AEBF"/>
                </a:solidFill>
                <a:latin typeface="Microsoft Sans Serif"/>
                <a:cs typeface="Microsoft Sans Serif"/>
              </a:rPr>
              <a:t>Tracking</a:t>
            </a:r>
            <a:r>
              <a:rPr sz="1950" spc="-60" dirty="0">
                <a:solidFill>
                  <a:srgbClr val="A0AEBF"/>
                </a:solidFill>
                <a:latin typeface="Microsoft Sans Serif"/>
                <a:cs typeface="Microsoft Sans Serif"/>
              </a:rPr>
              <a:t> </a:t>
            </a:r>
            <a:r>
              <a:rPr sz="1950" spc="-25" dirty="0">
                <a:solidFill>
                  <a:srgbClr val="A0AEBF"/>
                </a:solidFill>
                <a:latin typeface="Microsoft Sans Serif"/>
                <a:cs typeface="Microsoft Sans Serif"/>
              </a:rPr>
              <a:t>System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369</Words>
  <Application>Microsoft Office PowerPoint</Application>
  <PresentationFormat>Widescreen</PresentationFormat>
  <Paragraphs>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Microsoft Sans Serif</vt:lpstr>
      <vt:lpstr>Roboto</vt:lpstr>
      <vt:lpstr>Trebuchet MS</vt:lpstr>
      <vt:lpstr>Office Theme</vt:lpstr>
      <vt:lpstr>Multi-Camera Tracking System</vt:lpstr>
      <vt:lpstr>Real-time Detection &amp; Tracking</vt:lpstr>
      <vt:lpstr>Technical Architecture</vt:lpstr>
      <vt:lpstr>Multi-Camera Fusion</vt:lpstr>
      <vt:lpstr>Tech Stack</vt:lpstr>
      <vt:lpstr>Challenges &amp; Problems Faced</vt:lpstr>
      <vt:lpstr>Advantages &amp; Use Cases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Amit Sarkar</dc:creator>
  <cp:lastModifiedBy>Amit Sarkar</cp:lastModifiedBy>
  <cp:revision>1</cp:revision>
  <dcterms:created xsi:type="dcterms:W3CDTF">2025-11-19T10:20:20Z</dcterms:created>
  <dcterms:modified xsi:type="dcterms:W3CDTF">2025-11-19T10:21:08Z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LastSaved">
    <vt:filetime>2025-11-19T00:00:00Z</vt:filetime>
  </property>
</Properties>
</file>